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1" r:id="rId3"/>
    <p:sldId id="257" r:id="rId4"/>
    <p:sldId id="299" r:id="rId5"/>
    <p:sldId id="271" r:id="rId6"/>
    <p:sldId id="363" r:id="rId7"/>
    <p:sldId id="304" r:id="rId8"/>
    <p:sldId id="328" r:id="rId9"/>
    <p:sldId id="286" r:id="rId10"/>
    <p:sldId id="287" r:id="rId11"/>
    <p:sldId id="312" r:id="rId12"/>
    <p:sldId id="288" r:id="rId13"/>
    <p:sldId id="338" r:id="rId14"/>
    <p:sldId id="327" r:id="rId15"/>
    <p:sldId id="315" r:id="rId16"/>
    <p:sldId id="359" r:id="rId17"/>
    <p:sldId id="341" r:id="rId18"/>
    <p:sldId id="339" r:id="rId19"/>
    <p:sldId id="344" r:id="rId20"/>
    <p:sldId id="340" r:id="rId21"/>
    <p:sldId id="290" r:id="rId22"/>
    <p:sldId id="349" r:id="rId23"/>
    <p:sldId id="345" r:id="rId24"/>
    <p:sldId id="346" r:id="rId25"/>
    <p:sldId id="347" r:id="rId26"/>
    <p:sldId id="348" r:id="rId27"/>
    <p:sldId id="353" r:id="rId28"/>
    <p:sldId id="350" r:id="rId29"/>
    <p:sldId id="355" r:id="rId30"/>
    <p:sldId id="354" r:id="rId31"/>
    <p:sldId id="292" r:id="rId32"/>
    <p:sldId id="360" r:id="rId33"/>
    <p:sldId id="264" r:id="rId34"/>
    <p:sldId id="284" r:id="rId35"/>
    <p:sldId id="285" r:id="rId36"/>
    <p:sldId id="334" r:id="rId37"/>
    <p:sldId id="267" r:id="rId38"/>
    <p:sldId id="330" r:id="rId39"/>
    <p:sldId id="332" r:id="rId40"/>
    <p:sldId id="331" r:id="rId41"/>
    <p:sldId id="333" r:id="rId42"/>
    <p:sldId id="402" r:id="rId43"/>
    <p:sldId id="258" r:id="rId44"/>
    <p:sldId id="293" r:id="rId45"/>
    <p:sldId id="325" r:id="rId46"/>
    <p:sldId id="357" r:id="rId47"/>
    <p:sldId id="294" r:id="rId48"/>
    <p:sldId id="295" r:id="rId49"/>
    <p:sldId id="316" r:id="rId50"/>
    <p:sldId id="296" r:id="rId51"/>
    <p:sldId id="317" r:id="rId52"/>
    <p:sldId id="318" r:id="rId53"/>
    <p:sldId id="337" r:id="rId54"/>
    <p:sldId id="362" r:id="rId55"/>
    <p:sldId id="259" r:id="rId56"/>
    <p:sldId id="260" r:id="rId57"/>
    <p:sldId id="361" r:id="rId58"/>
    <p:sldId id="262" r:id="rId5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6433" autoAdjust="0"/>
  </p:normalViewPr>
  <p:slideViewPr>
    <p:cSldViewPr snapToGrid="0">
      <p:cViewPr varScale="1">
        <p:scale>
          <a:sx n="109" d="100"/>
          <a:sy n="109" d="100"/>
        </p:scale>
        <p:origin x="61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1/8/2024</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hasCustomPrompt="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hasCustomPrompt="1"/>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1/8/2024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1/8/2024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1/8/2024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1/8/2024</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hyperlink" Target="https://en.wikipedia.org/wiki/Royal_Northwest_Mounted_Police" TargetMode="External"/><Relationship Id="rId3" Type="http://schemas.openxmlformats.org/officeDocument/2006/relationships/hyperlink" Target="https://en.wikipedia.org/wiki/Royal_Newfoundland_Constabulary" TargetMode="External"/><Relationship Id="rId7" Type="http://schemas.openxmlformats.org/officeDocument/2006/relationships/hyperlink" Target="https://en.wikipedia.org/wiki/Dominion_Police" TargetMode="External"/><Relationship Id="rId2" Type="http://schemas.openxmlformats.org/officeDocument/2006/relationships/hyperlink" Target="https://en.wikipedia.org/wiki/Canada" TargetMode="External"/><Relationship Id="rId1" Type="http://schemas.openxmlformats.org/officeDocument/2006/relationships/slideLayout" Target="../slideLayouts/slideLayout2.xml"/><Relationship Id="rId6" Type="http://schemas.openxmlformats.org/officeDocument/2006/relationships/hyperlink" Target="https://en.wikipedia.org/wiki/Quebec_City" TargetMode="External"/><Relationship Id="rId5" Type="http://schemas.openxmlformats.org/officeDocument/2006/relationships/hyperlink" Target="https://en.wikipedia.org/wiki/Montreal" TargetMode="External"/><Relationship Id="rId4" Type="http://schemas.openxmlformats.org/officeDocument/2006/relationships/hyperlink" Target="https://en.wikipedia.org/wiki/Toronto_Police" TargetMode="External"/><Relationship Id="rId9" Type="http://schemas.openxmlformats.org/officeDocument/2006/relationships/hyperlink" Target="https://en.wikipedia.org/wiki/Royal_Canadian_Mounted_Police"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CA" b="1" dirty="0">
                <a:latin typeface="Arial" panose="020B0604020202020204" pitchFamily="34" charset="0"/>
                <a:cs typeface="Arial" panose="020B0604020202020204" pitchFamily="34" charset="0"/>
              </a:rPr>
              <a:t>Welcome!</a:t>
            </a:r>
          </a:p>
        </p:txBody>
      </p:sp>
      <p:sp>
        <p:nvSpPr>
          <p:cNvPr id="5" name="Content Placeholder 4"/>
          <p:cNvSpPr>
            <a:spLocks noGrp="1"/>
          </p:cNvSpPr>
          <p:nvPr>
            <p:ph idx="1"/>
          </p:nvPr>
        </p:nvSpPr>
        <p:spPr/>
        <p:txBody>
          <a:bodyPr>
            <a:normAutofit/>
          </a:bodyPr>
          <a:lstStyle/>
          <a:p>
            <a:pPr algn="ctr"/>
            <a:r>
              <a:rPr lang="en-CA" sz="3200" b="1" dirty="0">
                <a:latin typeface="Arial" panose="020B0604020202020204" pitchFamily="34" charset="0"/>
                <a:cs typeface="Arial" panose="020B0604020202020204" pitchFamily="34" charset="0"/>
              </a:rPr>
              <a:t>CRM 300: Policing in Canada</a:t>
            </a:r>
          </a:p>
          <a:p>
            <a:pPr algn="ctr"/>
            <a:endParaRPr lang="en-CA" sz="3200" b="1" dirty="0">
              <a:latin typeface="Arial" panose="020B0604020202020204" pitchFamily="34" charset="0"/>
              <a:cs typeface="Arial" panose="020B0604020202020204" pitchFamily="34" charset="0"/>
            </a:endParaRPr>
          </a:p>
          <a:p>
            <a:pPr algn="ctr"/>
            <a:r>
              <a:rPr lang="en-CA" sz="3200" b="1" dirty="0">
                <a:latin typeface="Arial" panose="020B0604020202020204" pitchFamily="34" charset="0"/>
                <a:cs typeface="Arial" panose="020B0604020202020204" pitchFamily="34" charset="0"/>
              </a:rPr>
              <a:t>Instructor: Dr. Anke Allspach</a:t>
            </a:r>
          </a:p>
        </p:txBody>
      </p:sp>
    </p:spTree>
    <p:extLst>
      <p:ext uri="{BB962C8B-B14F-4D97-AF65-F5344CB8AC3E}">
        <p14:creationId xmlns:p14="http://schemas.microsoft.com/office/powerpoint/2010/main" val="24789689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latin typeface="Arial" panose="020B0604020202020204" pitchFamily="34" charset="0"/>
                <a:cs typeface="Arial" panose="020B0604020202020204" pitchFamily="34" charset="0"/>
              </a:rPr>
              <a:t>Introduction</a:t>
            </a:r>
            <a:endParaRPr lang="en-CA"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r>
              <a:rPr lang="en-US" sz="2400" b="1" u="sng" dirty="0">
                <a:latin typeface="Arial" panose="020B0604020202020204" pitchFamily="34" charset="0"/>
                <a:cs typeface="Arial" panose="020B0604020202020204" pitchFamily="34" charset="0"/>
              </a:rPr>
              <a:t>Topics:</a:t>
            </a:r>
          </a:p>
          <a:p>
            <a:r>
              <a:rPr lang="en-US" sz="2400" b="1" dirty="0">
                <a:latin typeface="Arial" panose="020B0604020202020204" pitchFamily="34" charset="0"/>
                <a:cs typeface="Arial" panose="020B0604020202020204" pitchFamily="34" charset="0"/>
              </a:rPr>
              <a:t>Definitions</a:t>
            </a:r>
          </a:p>
          <a:p>
            <a:r>
              <a:rPr lang="en-US" sz="2400" b="1" dirty="0">
                <a:latin typeface="Arial" panose="020B0604020202020204" pitchFamily="34" charset="0"/>
                <a:cs typeface="Arial" panose="020B0604020202020204" pitchFamily="34" charset="0"/>
              </a:rPr>
              <a:t>Historical Background of ‘the police’ apparatus in Canada</a:t>
            </a:r>
          </a:p>
          <a:p>
            <a:r>
              <a:rPr lang="en-US" sz="2400" b="1" dirty="0">
                <a:latin typeface="Arial" panose="020B0604020202020204" pitchFamily="34" charset="0"/>
                <a:cs typeface="Arial" panose="020B0604020202020204" pitchFamily="34" charset="0"/>
              </a:rPr>
              <a:t>Levels of Policing</a:t>
            </a:r>
          </a:p>
          <a:p>
            <a:r>
              <a:rPr lang="en-US" sz="2400" b="1" dirty="0">
                <a:latin typeface="Arial" panose="020B0604020202020204" pitchFamily="34" charset="0"/>
                <a:cs typeface="Arial" panose="020B0604020202020204" pitchFamily="34" charset="0"/>
              </a:rPr>
              <a:t>The White Settler State and the Police Apparatus</a:t>
            </a:r>
          </a:p>
          <a:p>
            <a:endParaRPr lang="en-CA" sz="3600" dirty="0"/>
          </a:p>
        </p:txBody>
      </p:sp>
    </p:spTree>
    <p:extLst>
      <p:ext uri="{BB962C8B-B14F-4D97-AF65-F5344CB8AC3E}">
        <p14:creationId xmlns:p14="http://schemas.microsoft.com/office/powerpoint/2010/main" val="18825553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Questions</a:t>
            </a:r>
            <a:endParaRPr lang="en-CA"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fontScale="92500"/>
          </a:bodyPr>
          <a:lstStyle/>
          <a:p>
            <a:pPr marL="0" indent="0">
              <a:buNone/>
            </a:pPr>
            <a:r>
              <a:rPr lang="en-CA" sz="2800" b="1" dirty="0">
                <a:latin typeface="Arial" panose="020B0604020202020204" pitchFamily="34" charset="0"/>
                <a:cs typeface="Arial" panose="020B0604020202020204" pitchFamily="34" charset="0"/>
              </a:rPr>
              <a:t>Discuss:</a:t>
            </a:r>
          </a:p>
          <a:p>
            <a:pPr marL="0" indent="0">
              <a:buNone/>
            </a:pPr>
            <a:r>
              <a:rPr lang="en-CA" sz="2800" b="1" dirty="0">
                <a:latin typeface="Arial" panose="020B0604020202020204" pitchFamily="34" charset="0"/>
                <a:cs typeface="Arial" panose="020B0604020202020204" pitchFamily="34" charset="0"/>
              </a:rPr>
              <a:t> </a:t>
            </a:r>
            <a:r>
              <a:rPr lang="en-US" sz="2800" b="1" dirty="0">
                <a:effectLst/>
                <a:latin typeface="Arial" panose="020B0604020202020204" pitchFamily="34" charset="0"/>
                <a:ea typeface="Calibri" panose="020F0502020204030204" pitchFamily="34" charset="0"/>
                <a:cs typeface="Arial" panose="020B0604020202020204" pitchFamily="34" charset="0"/>
              </a:rPr>
              <a:t>► </a:t>
            </a:r>
            <a:r>
              <a:rPr lang="en-CA" sz="2800" b="1" dirty="0">
                <a:latin typeface="Arial" panose="020B0604020202020204" pitchFamily="34" charset="0"/>
                <a:cs typeface="Arial" panose="020B0604020202020204" pitchFamily="34" charset="0"/>
              </a:rPr>
              <a:t>Have you had any encounters with ‘the police’? </a:t>
            </a:r>
            <a:r>
              <a:rPr lang="en-US" sz="2800" b="1" dirty="0">
                <a:latin typeface="Arial" panose="020B0604020202020204" pitchFamily="34" charset="0"/>
                <a:cs typeface="Arial" panose="020B0604020202020204" pitchFamily="34" charset="0"/>
              </a:rPr>
              <a:t>Have you experienced or witnessed encounters with ‘the police’?</a:t>
            </a:r>
            <a:endParaRPr lang="en-CA" sz="2800" b="1" dirty="0">
              <a:latin typeface="Arial" panose="020B0604020202020204" pitchFamily="34" charset="0"/>
              <a:cs typeface="Arial" panose="020B0604020202020204" pitchFamily="34" charset="0"/>
            </a:endParaRPr>
          </a:p>
          <a:p>
            <a:pPr marL="0" indent="0">
              <a:buNone/>
            </a:pPr>
            <a:r>
              <a:rPr lang="en-US" sz="2800" b="1" dirty="0">
                <a:effectLst/>
                <a:latin typeface="Arial" panose="020B0604020202020204" pitchFamily="34" charset="0"/>
                <a:ea typeface="Calibri" panose="020F0502020204030204" pitchFamily="34" charset="0"/>
                <a:cs typeface="Arial" panose="020B0604020202020204" pitchFamily="34" charset="0"/>
              </a:rPr>
              <a:t>► What is the role and mandates of ‘the police’?</a:t>
            </a:r>
          </a:p>
          <a:p>
            <a:pPr marL="0" indent="0">
              <a:buNone/>
            </a:pPr>
            <a:r>
              <a:rPr lang="en-US" sz="2800" b="1" dirty="0">
                <a:effectLst/>
                <a:latin typeface="Arial" panose="020B0604020202020204" pitchFamily="34" charset="0"/>
                <a:ea typeface="Calibri" panose="020F0502020204030204" pitchFamily="34" charset="0"/>
                <a:cs typeface="Arial" panose="020B0604020202020204" pitchFamily="34" charset="0"/>
              </a:rPr>
              <a:t>► What are some of the difficulties</a:t>
            </a:r>
          </a:p>
          <a:p>
            <a:pPr marL="0" indent="0">
              <a:buNone/>
            </a:pPr>
            <a:r>
              <a:rPr lang="en-US" sz="2800" b="1" dirty="0">
                <a:effectLst/>
                <a:latin typeface="Arial" panose="020B0604020202020204" pitchFamily="34" charset="0"/>
                <a:ea typeface="Calibri" panose="020F0502020204030204" pitchFamily="34" charset="0"/>
                <a:cs typeface="Arial" panose="020B0604020202020204" pitchFamily="34" charset="0"/>
              </a:rPr>
              <a:t>► What are some of the controversies related to the police?</a:t>
            </a:r>
            <a:endParaRPr lang="en-CA" sz="2800" b="1" dirty="0">
              <a:latin typeface="Arial" panose="020B0604020202020204" pitchFamily="34" charset="0"/>
              <a:cs typeface="Arial" panose="020B0604020202020204" pitchFamily="34" charset="0"/>
            </a:endParaRPr>
          </a:p>
          <a:p>
            <a:pPr marL="0" indent="0">
              <a:buNone/>
            </a:pPr>
            <a:r>
              <a:rPr lang="en-US" sz="2800" b="1" dirty="0">
                <a:effectLst/>
                <a:latin typeface="Arial" panose="020B0604020202020204" pitchFamily="34" charset="0"/>
                <a:ea typeface="Calibri" panose="020F0502020204030204" pitchFamily="34" charset="0"/>
                <a:cs typeface="Arial" panose="020B0604020202020204" pitchFamily="34" charset="0"/>
              </a:rPr>
              <a:t>► </a:t>
            </a:r>
            <a:r>
              <a:rPr lang="en-CA" sz="2800" b="1" dirty="0">
                <a:latin typeface="Arial" panose="020B0604020202020204" pitchFamily="34" charset="0"/>
                <a:cs typeface="Arial" panose="020B0604020202020204" pitchFamily="34" charset="0"/>
              </a:rPr>
              <a:t>What is the difference between: </a:t>
            </a:r>
            <a:r>
              <a:rPr lang="en-CA" sz="2800" b="1" i="1" dirty="0">
                <a:latin typeface="Arial" panose="020B0604020202020204" pitchFamily="34" charset="0"/>
                <a:cs typeface="Arial" panose="020B0604020202020204" pitchFamily="34" charset="0"/>
              </a:rPr>
              <a:t>The Police </a:t>
            </a:r>
            <a:r>
              <a:rPr lang="en-CA" sz="2800" b="1" dirty="0">
                <a:latin typeface="Arial" panose="020B0604020202020204" pitchFamily="34" charset="0"/>
                <a:cs typeface="Arial" panose="020B0604020202020204" pitchFamily="34" charset="0"/>
              </a:rPr>
              <a:t>and </a:t>
            </a:r>
            <a:r>
              <a:rPr lang="en-CA" sz="2800" b="1" i="1" dirty="0">
                <a:latin typeface="Arial" panose="020B0604020202020204" pitchFamily="34" charset="0"/>
                <a:cs typeface="Arial" panose="020B0604020202020204" pitchFamily="34" charset="0"/>
              </a:rPr>
              <a:t>Policing</a:t>
            </a:r>
            <a:r>
              <a:rPr lang="en-CA" sz="2800" b="1"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230049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CA" b="1" dirty="0">
                <a:latin typeface="Arial" panose="020B0604020202020204" pitchFamily="34" charset="0"/>
                <a:cs typeface="Arial" panose="020B0604020202020204" pitchFamily="34" charset="0"/>
              </a:rPr>
              <a:t>Police Responsibilities</a:t>
            </a:r>
          </a:p>
        </p:txBody>
      </p:sp>
      <p:sp>
        <p:nvSpPr>
          <p:cNvPr id="3" name="Content Placeholder 2"/>
          <p:cNvSpPr>
            <a:spLocks noGrp="1"/>
          </p:cNvSpPr>
          <p:nvPr>
            <p:ph idx="1"/>
          </p:nvPr>
        </p:nvSpPr>
        <p:spPr/>
        <p:txBody>
          <a:bodyPr>
            <a:normAutofit fontScale="92500" lnSpcReduction="20000"/>
          </a:bodyPr>
          <a:lstStyle/>
          <a:p>
            <a:r>
              <a:rPr lang="en-CA" sz="2400" b="1" dirty="0">
                <a:solidFill>
                  <a:schemeClr val="tx1">
                    <a:lumMod val="95000"/>
                    <a:lumOff val="5000"/>
                  </a:schemeClr>
                </a:solidFill>
                <a:latin typeface="Arial" panose="020B0604020202020204" pitchFamily="34" charset="0"/>
                <a:cs typeface="Arial" panose="020B0604020202020204" pitchFamily="34" charset="0"/>
              </a:rPr>
              <a:t>District Patrol</a:t>
            </a:r>
          </a:p>
          <a:p>
            <a:r>
              <a:rPr lang="en-CA" sz="2400" b="1" dirty="0">
                <a:solidFill>
                  <a:schemeClr val="tx1">
                    <a:lumMod val="95000"/>
                    <a:lumOff val="5000"/>
                  </a:schemeClr>
                </a:solidFill>
                <a:latin typeface="Arial" panose="020B0604020202020204" pitchFamily="34" charset="0"/>
                <a:cs typeface="Arial" panose="020B0604020202020204" pitchFamily="34" charset="0"/>
              </a:rPr>
              <a:t>Criminal investigations specialized force (Major Crimes, Forensic Teams, Internet crime, organized crime, crimes against children, domestic violence)</a:t>
            </a:r>
          </a:p>
          <a:p>
            <a:r>
              <a:rPr lang="en-CA" sz="2400" b="1" dirty="0">
                <a:solidFill>
                  <a:schemeClr val="tx1">
                    <a:lumMod val="95000"/>
                    <a:lumOff val="5000"/>
                  </a:schemeClr>
                </a:solidFill>
                <a:latin typeface="Arial" panose="020B0604020202020204" pitchFamily="34" charset="0"/>
                <a:cs typeface="Arial" panose="020B0604020202020204" pitchFamily="34" charset="0"/>
              </a:rPr>
              <a:t>Emergency Responses</a:t>
            </a:r>
          </a:p>
          <a:p>
            <a:r>
              <a:rPr lang="en-CA" sz="2400" b="1" dirty="0">
                <a:solidFill>
                  <a:schemeClr val="tx1">
                    <a:lumMod val="95000"/>
                    <a:lumOff val="5000"/>
                  </a:schemeClr>
                </a:solidFill>
                <a:latin typeface="Arial" panose="020B0604020202020204" pitchFamily="34" charset="0"/>
                <a:cs typeface="Arial" panose="020B0604020202020204" pitchFamily="34" charset="0"/>
              </a:rPr>
              <a:t>Operational Support (Canine, sex. assault, firearms)</a:t>
            </a:r>
          </a:p>
          <a:p>
            <a:r>
              <a:rPr lang="en-CA" sz="2400" b="1" dirty="0">
                <a:solidFill>
                  <a:schemeClr val="tx1">
                    <a:lumMod val="95000"/>
                    <a:lumOff val="5000"/>
                  </a:schemeClr>
                </a:solidFill>
                <a:latin typeface="Arial" panose="020B0604020202020204" pitchFamily="34" charset="0"/>
                <a:cs typeface="Arial" panose="020B0604020202020204" pitchFamily="34" charset="0"/>
              </a:rPr>
              <a:t>Traffic (Collision investigation)</a:t>
            </a:r>
          </a:p>
          <a:p>
            <a:r>
              <a:rPr lang="en-CA" sz="2400" b="1" dirty="0">
                <a:solidFill>
                  <a:schemeClr val="tx1">
                    <a:lumMod val="95000"/>
                    <a:lumOff val="5000"/>
                  </a:schemeClr>
                </a:solidFill>
                <a:latin typeface="Arial" panose="020B0604020202020204" pitchFamily="34" charset="0"/>
                <a:cs typeface="Arial" panose="020B0604020202020204" pitchFamily="34" charset="0"/>
              </a:rPr>
              <a:t>Community outreach </a:t>
            </a:r>
          </a:p>
          <a:p>
            <a:r>
              <a:rPr lang="en-CA" sz="2400" b="1" dirty="0">
                <a:solidFill>
                  <a:schemeClr val="tx1">
                    <a:lumMod val="95000"/>
                    <a:lumOff val="5000"/>
                  </a:schemeClr>
                </a:solidFill>
                <a:latin typeface="Arial" panose="020B0604020202020204" pitchFamily="34" charset="0"/>
                <a:cs typeface="Arial" panose="020B0604020202020204" pitchFamily="34" charset="0"/>
              </a:rPr>
              <a:t>Community policing </a:t>
            </a:r>
          </a:p>
          <a:p>
            <a:r>
              <a:rPr lang="en-CA" sz="1800" b="1" dirty="0">
                <a:latin typeface="Arial" panose="020B0604020202020204" pitchFamily="34" charset="0"/>
                <a:cs typeface="Arial" panose="020B0604020202020204" pitchFamily="34" charset="0"/>
              </a:rPr>
              <a:t>(see hand out posted on D2L)</a:t>
            </a:r>
            <a:endParaRPr lang="en-CA" dirty="0">
              <a:solidFill>
                <a:schemeClr val="tx1">
                  <a:lumMod val="95000"/>
                  <a:lumOff val="5000"/>
                </a:schemeClr>
              </a:solidFill>
            </a:endParaRPr>
          </a:p>
        </p:txBody>
      </p:sp>
    </p:spTree>
    <p:extLst>
      <p:ext uri="{BB962C8B-B14F-4D97-AF65-F5344CB8AC3E}">
        <p14:creationId xmlns:p14="http://schemas.microsoft.com/office/powerpoint/2010/main" val="2490877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CA" b="1" dirty="0">
                <a:latin typeface="Arial" panose="020B0604020202020204" pitchFamily="34" charset="0"/>
                <a:cs typeface="Arial" panose="020B0604020202020204" pitchFamily="34" charset="0"/>
              </a:rPr>
              <a:t>Police</a:t>
            </a:r>
            <a:r>
              <a:rPr lang="en-CA" sz="3200" b="1" dirty="0">
                <a:latin typeface="Arial" panose="020B0604020202020204" pitchFamily="34" charset="0"/>
                <a:cs typeface="Arial" panose="020B0604020202020204" pitchFamily="34" charset="0"/>
              </a:rPr>
              <a:t> Challenges</a:t>
            </a:r>
            <a:br>
              <a:rPr lang="en-US" sz="3200" dirty="0">
                <a:solidFill>
                  <a:schemeClr val="tx1"/>
                </a:solidFill>
              </a:rPr>
            </a:br>
            <a:endParaRPr lang="en-US" sz="3200" dirty="0"/>
          </a:p>
        </p:txBody>
      </p:sp>
      <p:sp>
        <p:nvSpPr>
          <p:cNvPr id="3" name="Content Placeholder 2"/>
          <p:cNvSpPr>
            <a:spLocks noGrp="1"/>
          </p:cNvSpPr>
          <p:nvPr>
            <p:ph idx="1"/>
          </p:nvPr>
        </p:nvSpPr>
        <p:spPr/>
        <p:txBody>
          <a:bodyPr>
            <a:normAutofit fontScale="70000" lnSpcReduction="20000"/>
          </a:bodyPr>
          <a:lstStyle/>
          <a:p>
            <a:r>
              <a:rPr lang="en-CA" sz="2400" b="1" dirty="0">
                <a:solidFill>
                  <a:schemeClr val="tx1"/>
                </a:solidFill>
                <a:latin typeface="Arial" panose="020B0604020202020204" pitchFamily="34" charset="0"/>
                <a:cs typeface="Arial" panose="020B0604020202020204" pitchFamily="34" charset="0"/>
              </a:rPr>
              <a:t>Increased calls</a:t>
            </a:r>
          </a:p>
          <a:p>
            <a:r>
              <a:rPr lang="en-CA" sz="2400" b="1" dirty="0">
                <a:solidFill>
                  <a:schemeClr val="tx1"/>
                </a:solidFill>
                <a:latin typeface="Arial" panose="020B0604020202020204" pitchFamily="34" charset="0"/>
                <a:cs typeface="Arial" panose="020B0604020202020204" pitchFamily="34" charset="0"/>
              </a:rPr>
              <a:t>Increased complexity of investigations: surveillance and evidence gathering</a:t>
            </a:r>
          </a:p>
          <a:p>
            <a:r>
              <a:rPr lang="en-CA" sz="2400" b="1" dirty="0">
                <a:solidFill>
                  <a:schemeClr val="tx1"/>
                </a:solidFill>
                <a:latin typeface="Arial" panose="020B0604020202020204" pitchFamily="34" charset="0"/>
                <a:cs typeface="Arial" panose="020B0604020202020204" pitchFamily="34" charset="0"/>
              </a:rPr>
              <a:t>High visibility: public scrutiny </a:t>
            </a:r>
          </a:p>
          <a:p>
            <a:r>
              <a:rPr lang="en-CA" sz="2400" b="1" dirty="0">
                <a:solidFill>
                  <a:schemeClr val="tx1"/>
                </a:solidFill>
                <a:latin typeface="Arial" panose="020B0604020202020204" pitchFamily="34" charset="0"/>
                <a:cs typeface="Arial" panose="020B0604020202020204" pitchFamily="34" charset="0"/>
              </a:rPr>
              <a:t>Technological advancement</a:t>
            </a:r>
          </a:p>
          <a:p>
            <a:r>
              <a:rPr lang="en-CA" sz="2400" b="1" dirty="0">
                <a:solidFill>
                  <a:schemeClr val="tx1"/>
                </a:solidFill>
                <a:latin typeface="Arial" panose="020B0604020202020204" pitchFamily="34" charset="0"/>
                <a:cs typeface="Arial" panose="020B0604020202020204" pitchFamily="34" charset="0"/>
              </a:rPr>
              <a:t>Understaffing</a:t>
            </a:r>
          </a:p>
          <a:p>
            <a:r>
              <a:rPr lang="en-CA" sz="2400" b="1" dirty="0">
                <a:solidFill>
                  <a:schemeClr val="tx1"/>
                </a:solidFill>
                <a:latin typeface="Arial" panose="020B0604020202020204" pitchFamily="34" charset="0"/>
                <a:cs typeface="Arial" panose="020B0604020202020204" pitchFamily="34" charset="0"/>
              </a:rPr>
              <a:t>Coordination</a:t>
            </a:r>
          </a:p>
          <a:p>
            <a:r>
              <a:rPr lang="en-CA" sz="2400" b="1" dirty="0">
                <a:solidFill>
                  <a:schemeClr val="tx1"/>
                </a:solidFill>
                <a:latin typeface="Arial" panose="020B0604020202020204" pitchFamily="34" charset="0"/>
                <a:cs typeface="Arial" panose="020B0604020202020204" pitchFamily="34" charset="0"/>
              </a:rPr>
              <a:t>Shift work</a:t>
            </a:r>
          </a:p>
          <a:p>
            <a:r>
              <a:rPr lang="en-CA" sz="2400" b="1" dirty="0">
                <a:solidFill>
                  <a:schemeClr val="tx1"/>
                </a:solidFill>
                <a:latin typeface="Arial" panose="020B0604020202020204" pitchFamily="34" charset="0"/>
                <a:cs typeface="Arial" panose="020B0604020202020204" pitchFamily="34" charset="0"/>
              </a:rPr>
              <a:t>Violent incidents  </a:t>
            </a:r>
          </a:p>
          <a:p>
            <a:r>
              <a:rPr lang="en-CA" sz="2400" b="1" dirty="0">
                <a:solidFill>
                  <a:schemeClr val="tx1"/>
                </a:solidFill>
                <a:latin typeface="Arial" panose="020B0604020202020204" pitchFamily="34" charset="0"/>
                <a:cs typeface="Arial" panose="020B0604020202020204" pitchFamily="34" charset="0"/>
              </a:rPr>
              <a:t>PTSD</a:t>
            </a:r>
          </a:p>
          <a:p>
            <a:r>
              <a:rPr lang="en-CA" sz="2400" b="1" dirty="0">
                <a:solidFill>
                  <a:schemeClr val="tx1"/>
                </a:solidFill>
                <a:latin typeface="Arial" panose="020B0604020202020204" pitchFamily="34" charset="0"/>
                <a:cs typeface="Arial" panose="020B0604020202020204" pitchFamily="34" charset="0"/>
              </a:rPr>
              <a:t>Lack of training</a:t>
            </a:r>
          </a:p>
          <a:p>
            <a:r>
              <a:rPr lang="en-CA" sz="2400" b="1" dirty="0">
                <a:solidFill>
                  <a:schemeClr val="tx1"/>
                </a:solidFill>
                <a:latin typeface="Arial" panose="020B0604020202020204" pitchFamily="34" charset="0"/>
                <a:cs typeface="Arial" panose="020B0604020202020204" pitchFamily="34" charset="0"/>
              </a:rPr>
              <a:t>Experience of biases amongst police officers and the structure of the police</a:t>
            </a:r>
          </a:p>
        </p:txBody>
      </p:sp>
    </p:spTree>
    <p:extLst>
      <p:ext uri="{BB962C8B-B14F-4D97-AF65-F5344CB8AC3E}">
        <p14:creationId xmlns:p14="http://schemas.microsoft.com/office/powerpoint/2010/main" val="2005211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688AB-CC0C-498C-AFFB-904891FAC079}"/>
              </a:ext>
            </a:extLst>
          </p:cNvPr>
          <p:cNvSpPr>
            <a:spLocks noGrp="1"/>
          </p:cNvSpPr>
          <p:nvPr>
            <p:ph type="title"/>
          </p:nvPr>
        </p:nvSpPr>
        <p:spPr/>
        <p:txBody>
          <a:bodyPr>
            <a:normAutofit/>
          </a:bodyPr>
          <a:lstStyle/>
          <a:p>
            <a:pPr algn="ctr"/>
            <a:r>
              <a:rPr lang="en-US" b="1" dirty="0">
                <a:latin typeface="Arial" panose="020B0604020202020204" pitchFamily="34" charset="0"/>
                <a:cs typeface="Arial" panose="020B0604020202020204" pitchFamily="34" charset="0"/>
              </a:rPr>
              <a:t>Police challenges</a:t>
            </a:r>
            <a:endParaRPr lang="en-CA"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E33CBF93-19CB-4EC8-B618-3B930415EFED}"/>
              </a:ext>
            </a:extLst>
          </p:cNvPr>
          <p:cNvSpPr>
            <a:spLocks noGrp="1"/>
          </p:cNvSpPr>
          <p:nvPr>
            <p:ph idx="1"/>
          </p:nvPr>
        </p:nvSpPr>
        <p:spPr/>
        <p:txBody>
          <a:bodyPr>
            <a:normAutofit fontScale="92500" lnSpcReduction="20000"/>
          </a:bodyPr>
          <a:lstStyle/>
          <a:p>
            <a:r>
              <a:rPr lang="en-US" b="1" u="sng" dirty="0">
                <a:latin typeface="Arial" panose="020B0604020202020204" pitchFamily="34" charset="0"/>
                <a:cs typeface="Arial" panose="020B0604020202020204" pitchFamily="34" charset="0"/>
              </a:rPr>
              <a:t>Unique role of the Police</a:t>
            </a:r>
            <a:r>
              <a:rPr lang="en-US" b="1" dirty="0">
                <a:latin typeface="Arial" panose="020B0604020202020204" pitchFamily="34" charset="0"/>
                <a:cs typeface="Arial" panose="020B0604020202020204" pitchFamily="34" charset="0"/>
              </a:rPr>
              <a:t>: varied situations and circumstances: exposed to blood, biohazards, crisis, chaos, conflicts etc..</a:t>
            </a:r>
          </a:p>
          <a:p>
            <a:r>
              <a:rPr lang="en-US" b="1" u="sng" dirty="0">
                <a:latin typeface="Arial" panose="020B0604020202020204" pitchFamily="34" charset="0"/>
                <a:cs typeface="Arial" panose="020B0604020202020204" pitchFamily="34" charset="0"/>
              </a:rPr>
              <a:t>Police as warriors versus guardians: </a:t>
            </a:r>
            <a:r>
              <a:rPr lang="en-US" b="1" dirty="0">
                <a:latin typeface="Arial" panose="020B0604020202020204" pitchFamily="34" charset="0"/>
                <a:cs typeface="Arial" panose="020B0604020202020204" pitchFamily="34" charset="0"/>
              </a:rPr>
              <a:t>primary role is the exercise of authority versus peacekeepers</a:t>
            </a:r>
          </a:p>
          <a:p>
            <a:r>
              <a:rPr lang="en-US" b="1" u="sng" dirty="0">
                <a:latin typeface="Arial" panose="020B0604020202020204" pitchFamily="34" charset="0"/>
                <a:cs typeface="Arial" panose="020B0604020202020204" pitchFamily="34" charset="0"/>
              </a:rPr>
              <a:t>Mandated responsibilities and assumed responsibilities</a:t>
            </a:r>
            <a:r>
              <a:rPr lang="en-US" b="1" dirty="0">
                <a:latin typeface="Arial" panose="020B0604020202020204" pitchFamily="34" charset="0"/>
                <a:cs typeface="Arial" panose="020B0604020202020204" pitchFamily="34" charset="0"/>
              </a:rPr>
              <a:t>: community relations, partnerships and over policing </a:t>
            </a:r>
          </a:p>
          <a:p>
            <a:r>
              <a:rPr lang="en-US" b="1" u="sng" dirty="0">
                <a:latin typeface="Arial" panose="020B0604020202020204" pitchFamily="34" charset="0"/>
                <a:cs typeface="Arial" panose="020B0604020202020204" pitchFamily="34" charset="0"/>
              </a:rPr>
              <a:t>Changing Boundaries: </a:t>
            </a:r>
            <a:r>
              <a:rPr lang="en-US" b="1" dirty="0">
                <a:latin typeface="Arial" panose="020B0604020202020204" pitchFamily="34" charset="0"/>
                <a:cs typeface="Arial" panose="020B0604020202020204" pitchFamily="34" charset="0"/>
              </a:rPr>
              <a:t>recent years: multifaceted and more complex mandates; since neo-liberalism: solving socio-economic and political problems with policing</a:t>
            </a:r>
          </a:p>
          <a:p>
            <a:r>
              <a:rPr lang="en-US" b="1" u="sng" dirty="0">
                <a:latin typeface="Arial" panose="020B0604020202020204" pitchFamily="34" charset="0"/>
                <a:cs typeface="Arial" panose="020B0604020202020204" pitchFamily="34" charset="0"/>
              </a:rPr>
              <a:t>Moral and ethical dimensions</a:t>
            </a:r>
            <a:r>
              <a:rPr lang="en-US" b="1" dirty="0">
                <a:latin typeface="Arial" panose="020B0604020202020204" pitchFamily="34" charset="0"/>
                <a:cs typeface="Arial" panose="020B0604020202020204" pitchFamily="34" charset="0"/>
              </a:rPr>
              <a:t>: exercise lawful authority and “act morally in their exercise of discretion and making decision”</a:t>
            </a:r>
          </a:p>
          <a:p>
            <a:r>
              <a:rPr lang="en-US" b="1" u="sng" dirty="0">
                <a:latin typeface="Arial" panose="020B0604020202020204" pitchFamily="34" charset="0"/>
                <a:cs typeface="Arial" panose="020B0604020202020204" pitchFamily="34" charset="0"/>
              </a:rPr>
              <a:t>Diversity:</a:t>
            </a:r>
            <a:r>
              <a:rPr lang="en-US" b="1" dirty="0">
                <a:latin typeface="Arial" panose="020B0604020202020204" pitchFamily="34" charset="0"/>
                <a:cs typeface="Arial" panose="020B0604020202020204" pitchFamily="34" charset="0"/>
              </a:rPr>
              <a:t> historically ‘the police’ is a force to establish and maintain white settler domination. So diversity in a multicultural society is perceived as “a problem and a challenge” </a:t>
            </a:r>
          </a:p>
          <a:p>
            <a:r>
              <a:rPr lang="en-US" b="1" u="sng" dirty="0">
                <a:latin typeface="Arial" panose="020B0604020202020204" pitchFamily="34" charset="0"/>
                <a:cs typeface="Arial" panose="020B0604020202020204" pitchFamily="34" charset="0"/>
              </a:rPr>
              <a:t>Geography:</a:t>
            </a:r>
            <a:r>
              <a:rPr lang="en-US" b="1" dirty="0">
                <a:latin typeface="Arial" panose="020B0604020202020204" pitchFamily="34" charset="0"/>
                <a:cs typeface="Arial" panose="020B0604020202020204" pitchFamily="34" charset="0"/>
              </a:rPr>
              <a:t> policing in northern and remote communities </a:t>
            </a:r>
            <a:endParaRPr lang="en-CA"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67496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CA" b="1" dirty="0">
                <a:latin typeface="Arial" panose="020B0604020202020204" pitchFamily="34" charset="0"/>
                <a:cs typeface="Arial" panose="020B0604020202020204" pitchFamily="34" charset="0"/>
              </a:rPr>
              <a:t>Policing</a:t>
            </a:r>
          </a:p>
        </p:txBody>
      </p:sp>
      <p:sp>
        <p:nvSpPr>
          <p:cNvPr id="3" name="Content Placeholder 2"/>
          <p:cNvSpPr>
            <a:spLocks noGrp="1"/>
          </p:cNvSpPr>
          <p:nvPr>
            <p:ph idx="1"/>
          </p:nvPr>
        </p:nvSpPr>
        <p:spPr/>
        <p:txBody>
          <a:bodyPr>
            <a:normAutofit lnSpcReduction="10000"/>
          </a:bodyPr>
          <a:lstStyle/>
          <a:p>
            <a:pPr algn="ctr"/>
            <a:r>
              <a:rPr lang="en-CA" sz="3200" b="1" dirty="0">
                <a:latin typeface="Arial" panose="020B0604020202020204" pitchFamily="34" charset="0"/>
                <a:cs typeface="Arial" panose="020B0604020202020204" pitchFamily="34" charset="0"/>
              </a:rPr>
              <a:t>All </a:t>
            </a:r>
            <a:r>
              <a:rPr lang="en-CA" sz="3200" b="1" u="sng" dirty="0">
                <a:latin typeface="Arial" panose="020B0604020202020204" pitchFamily="34" charset="0"/>
                <a:cs typeface="Arial" panose="020B0604020202020204" pitchFamily="34" charset="0"/>
              </a:rPr>
              <a:t>practices</a:t>
            </a:r>
            <a:r>
              <a:rPr lang="en-CA" sz="3200" b="1" dirty="0">
                <a:latin typeface="Arial" panose="020B0604020202020204" pitchFamily="34" charset="0"/>
                <a:cs typeface="Arial" panose="020B0604020202020204" pitchFamily="34" charset="0"/>
              </a:rPr>
              <a:t> that are forms of social regulation and control</a:t>
            </a:r>
          </a:p>
          <a:p>
            <a:pPr algn="ctr"/>
            <a:r>
              <a:rPr lang="en-CA" sz="3200" b="1" dirty="0">
                <a:latin typeface="Arial" panose="020B0604020202020204" pitchFamily="34" charset="0"/>
                <a:cs typeface="Arial" panose="020B0604020202020204" pitchFamily="34" charset="0"/>
              </a:rPr>
              <a:t>Activities of social regulation and control of any individual, group, community, organization or institution</a:t>
            </a:r>
          </a:p>
          <a:p>
            <a:pPr algn="ctr"/>
            <a:r>
              <a:rPr lang="en-CA" sz="3200" b="1" dirty="0">
                <a:latin typeface="Arial" panose="020B0604020202020204" pitchFamily="34" charset="0"/>
                <a:cs typeface="Arial" panose="020B0604020202020204" pitchFamily="34" charset="0"/>
              </a:rPr>
              <a:t>Establishing, enforcing, normalizing and maintaining dominant values and norms</a:t>
            </a:r>
          </a:p>
          <a:p>
            <a:endParaRPr lang="en-CA" sz="32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4726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CA" b="1" dirty="0">
                <a:latin typeface="Arial" panose="020B0604020202020204" pitchFamily="34" charset="0"/>
                <a:cs typeface="Arial" panose="020B0604020202020204" pitchFamily="34" charset="0"/>
              </a:rPr>
              <a:t>Examples: Who is policing? </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fontScale="62500" lnSpcReduction="20000"/>
          </a:bodyPr>
          <a:lstStyle/>
          <a:p>
            <a:r>
              <a:rPr lang="en-US" sz="2600" b="1" dirty="0">
                <a:latin typeface="Arial" panose="020B0604020202020204" pitchFamily="34" charset="0"/>
                <a:cs typeface="Arial" panose="020B0604020202020204" pitchFamily="34" charset="0"/>
              </a:rPr>
              <a:t>Family, parents….everybody</a:t>
            </a:r>
          </a:p>
          <a:p>
            <a:r>
              <a:rPr lang="en-US" sz="2600" b="1" dirty="0">
                <a:latin typeface="Arial" panose="020B0604020202020204" pitchFamily="34" charset="0"/>
                <a:cs typeface="Arial" panose="020B0604020202020204" pitchFamily="34" charset="0"/>
              </a:rPr>
              <a:t>Religion, Church</a:t>
            </a:r>
          </a:p>
          <a:p>
            <a:r>
              <a:rPr lang="en-US" sz="2600" b="1" dirty="0">
                <a:latin typeface="Arial" panose="020B0604020202020204" pitchFamily="34" charset="0"/>
                <a:cs typeface="Arial" panose="020B0604020202020204" pitchFamily="34" charset="0"/>
              </a:rPr>
              <a:t>Media</a:t>
            </a:r>
          </a:p>
          <a:p>
            <a:r>
              <a:rPr lang="en-US" sz="2600" b="1" dirty="0">
                <a:latin typeface="Arial" panose="020B0604020202020204" pitchFamily="34" charset="0"/>
                <a:cs typeface="Arial" panose="020B0604020202020204" pitchFamily="34" charset="0"/>
              </a:rPr>
              <a:t>Schools</a:t>
            </a:r>
          </a:p>
          <a:p>
            <a:r>
              <a:rPr lang="en-US" sz="2600" b="1" dirty="0">
                <a:latin typeface="Arial" panose="020B0604020202020204" pitchFamily="34" charset="0"/>
                <a:cs typeface="Arial" panose="020B0604020202020204" pitchFamily="34" charset="0"/>
              </a:rPr>
              <a:t>Work places</a:t>
            </a:r>
          </a:p>
          <a:p>
            <a:r>
              <a:rPr lang="en-US" sz="2600" b="1" dirty="0">
                <a:latin typeface="Arial" panose="020B0604020202020204" pitchFamily="34" charset="0"/>
                <a:cs typeface="Arial" panose="020B0604020202020204" pitchFamily="34" charset="0"/>
              </a:rPr>
              <a:t>Shopping centers</a:t>
            </a:r>
          </a:p>
          <a:p>
            <a:r>
              <a:rPr lang="en-US" sz="2600" b="1" dirty="0">
                <a:latin typeface="Arial" panose="020B0604020202020204" pitchFamily="34" charset="0"/>
                <a:cs typeface="Arial" panose="020B0604020202020204" pitchFamily="34" charset="0"/>
              </a:rPr>
              <a:t>The state</a:t>
            </a:r>
          </a:p>
          <a:p>
            <a:r>
              <a:rPr lang="en-US" sz="2600" b="1" dirty="0">
                <a:latin typeface="Arial" panose="020B0604020202020204" pitchFamily="34" charset="0"/>
                <a:cs typeface="Arial" panose="020B0604020202020204" pitchFamily="34" charset="0"/>
              </a:rPr>
              <a:t>Neighbors, neighborhood watch</a:t>
            </a:r>
          </a:p>
          <a:p>
            <a:r>
              <a:rPr lang="en-US" sz="2600" b="1" dirty="0">
                <a:latin typeface="Arial" panose="020B0604020202020204" pitchFamily="34" charset="0"/>
                <a:cs typeface="Arial" panose="020B0604020202020204" pitchFamily="34" charset="0"/>
              </a:rPr>
              <a:t>TTC</a:t>
            </a:r>
          </a:p>
          <a:p>
            <a:r>
              <a:rPr lang="en-US" sz="2600" b="1" dirty="0">
                <a:latin typeface="Arial" panose="020B0604020202020204" pitchFamily="34" charset="0"/>
                <a:cs typeface="Arial" panose="020B0604020202020204" pitchFamily="34" charset="0"/>
              </a:rPr>
              <a:t>Military</a:t>
            </a:r>
          </a:p>
          <a:p>
            <a:r>
              <a:rPr lang="en-US" sz="2600" b="1" dirty="0">
                <a:latin typeface="Arial" panose="020B0604020202020204" pitchFamily="34" charset="0"/>
                <a:cs typeface="Arial" panose="020B0604020202020204" pitchFamily="34" charset="0"/>
              </a:rPr>
              <a:t>Private security</a:t>
            </a:r>
            <a:endParaRPr lang="en-US" dirty="0"/>
          </a:p>
        </p:txBody>
      </p:sp>
    </p:spTree>
    <p:extLst>
      <p:ext uri="{BB962C8B-B14F-4D97-AF65-F5344CB8AC3E}">
        <p14:creationId xmlns:p14="http://schemas.microsoft.com/office/powerpoint/2010/main" val="20538387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CA" b="1" dirty="0">
                <a:latin typeface="Arial" panose="020B0604020202020204" pitchFamily="34" charset="0"/>
                <a:cs typeface="Arial" panose="020B0604020202020204" pitchFamily="34" charset="0"/>
              </a:rPr>
              <a:t>‘The Police’ as a State Apparatus</a:t>
            </a:r>
          </a:p>
        </p:txBody>
      </p:sp>
      <p:sp>
        <p:nvSpPr>
          <p:cNvPr id="3" name="Content Placeholder 2"/>
          <p:cNvSpPr>
            <a:spLocks noGrp="1"/>
          </p:cNvSpPr>
          <p:nvPr>
            <p:ph idx="1"/>
          </p:nvPr>
        </p:nvSpPr>
        <p:spPr/>
        <p:txBody>
          <a:bodyPr>
            <a:normAutofit/>
          </a:bodyPr>
          <a:lstStyle/>
          <a:p>
            <a:r>
              <a:rPr lang="en-CA" sz="3600" b="1" dirty="0">
                <a:latin typeface="Arial" panose="020B0604020202020204" pitchFamily="34" charset="0"/>
                <a:cs typeface="Arial" panose="020B0604020202020204" pitchFamily="34" charset="0"/>
              </a:rPr>
              <a:t>One branch of the criminal justice system</a:t>
            </a:r>
          </a:p>
          <a:p>
            <a:r>
              <a:rPr lang="en-CA" sz="3600" b="1" dirty="0">
                <a:latin typeface="Arial" panose="020B0604020202020204" pitchFamily="34" charset="0"/>
                <a:cs typeface="Arial" panose="020B0604020202020204" pitchFamily="34" charset="0"/>
              </a:rPr>
              <a:t>Institution of the state</a:t>
            </a:r>
          </a:p>
          <a:p>
            <a:r>
              <a:rPr lang="en-CA" sz="3600" b="1" dirty="0">
                <a:latin typeface="Arial" panose="020B0604020202020204" pitchFamily="34" charset="0"/>
                <a:cs typeface="Arial" panose="020B0604020202020204" pitchFamily="34" charset="0"/>
              </a:rPr>
              <a:t>A body of professional officers </a:t>
            </a:r>
          </a:p>
        </p:txBody>
      </p:sp>
    </p:spTree>
    <p:extLst>
      <p:ext uri="{BB962C8B-B14F-4D97-AF65-F5344CB8AC3E}">
        <p14:creationId xmlns:p14="http://schemas.microsoft.com/office/powerpoint/2010/main" val="2588600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CA" sz="3200" b="1" dirty="0">
                <a:latin typeface="Arial" panose="020B0604020202020204" pitchFamily="34" charset="0"/>
                <a:cs typeface="Arial" panose="020B0604020202020204" pitchFamily="34" charset="0"/>
              </a:rPr>
              <a:t>‘The Police’ </a:t>
            </a:r>
          </a:p>
        </p:txBody>
      </p:sp>
      <p:sp>
        <p:nvSpPr>
          <p:cNvPr id="3" name="Content Placeholder 2"/>
          <p:cNvSpPr>
            <a:spLocks noGrp="1"/>
          </p:cNvSpPr>
          <p:nvPr>
            <p:ph idx="1"/>
          </p:nvPr>
        </p:nvSpPr>
        <p:spPr/>
        <p:txBody>
          <a:bodyPr>
            <a:normAutofit fontScale="92500" lnSpcReduction="20000"/>
          </a:bodyPr>
          <a:lstStyle/>
          <a:p>
            <a:r>
              <a:rPr lang="en-CA" sz="3600" b="1" dirty="0">
                <a:solidFill>
                  <a:schemeClr val="tx1">
                    <a:lumMod val="95000"/>
                    <a:lumOff val="5000"/>
                  </a:schemeClr>
                </a:solidFill>
                <a:latin typeface="Arial" panose="020B0604020202020204" pitchFamily="34" charset="0"/>
                <a:cs typeface="Arial" panose="020B0604020202020204" pitchFamily="34" charset="0"/>
              </a:rPr>
              <a:t>As a state apparatus</a:t>
            </a:r>
          </a:p>
          <a:p>
            <a:r>
              <a:rPr lang="en-CA" sz="3600" b="1" dirty="0">
                <a:solidFill>
                  <a:schemeClr val="tx1">
                    <a:lumMod val="95000"/>
                    <a:lumOff val="5000"/>
                  </a:schemeClr>
                </a:solidFill>
                <a:latin typeface="Arial" panose="020B0604020202020204" pitchFamily="34" charset="0"/>
                <a:cs typeface="Arial" panose="020B0604020202020204" pitchFamily="34" charset="0"/>
              </a:rPr>
              <a:t>Emerged in the 18</a:t>
            </a:r>
            <a:r>
              <a:rPr lang="en-CA" sz="3600" b="1" baseline="30000" dirty="0">
                <a:solidFill>
                  <a:schemeClr val="tx1">
                    <a:lumMod val="95000"/>
                    <a:lumOff val="5000"/>
                  </a:schemeClr>
                </a:solidFill>
                <a:latin typeface="Arial" panose="020B0604020202020204" pitchFamily="34" charset="0"/>
                <a:cs typeface="Arial" panose="020B0604020202020204" pitchFamily="34" charset="0"/>
              </a:rPr>
              <a:t>th</a:t>
            </a:r>
            <a:r>
              <a:rPr lang="en-CA" sz="3600" b="1" dirty="0">
                <a:solidFill>
                  <a:schemeClr val="tx1">
                    <a:lumMod val="95000"/>
                    <a:lumOff val="5000"/>
                  </a:schemeClr>
                </a:solidFill>
                <a:latin typeface="Arial" panose="020B0604020202020204" pitchFamily="34" charset="0"/>
                <a:cs typeface="Arial" panose="020B0604020202020204" pitchFamily="34" charset="0"/>
              </a:rPr>
              <a:t> century in</a:t>
            </a:r>
          </a:p>
          <a:p>
            <a:r>
              <a:rPr lang="en-CA" sz="3600" b="1" dirty="0">
                <a:solidFill>
                  <a:schemeClr val="tx1">
                    <a:lumMod val="95000"/>
                    <a:lumOff val="5000"/>
                  </a:schemeClr>
                </a:solidFill>
                <a:latin typeface="Arial" panose="020B0604020202020204" pitchFamily="34" charset="0"/>
                <a:cs typeface="Arial" panose="020B0604020202020204" pitchFamily="34" charset="0"/>
              </a:rPr>
              <a:t>developing modern societies</a:t>
            </a:r>
          </a:p>
          <a:p>
            <a:r>
              <a:rPr lang="en-CA" sz="3600" b="1" dirty="0">
                <a:solidFill>
                  <a:schemeClr val="tx1">
                    <a:lumMod val="95000"/>
                    <a:lumOff val="5000"/>
                  </a:schemeClr>
                </a:solidFill>
                <a:latin typeface="Arial" panose="020B0604020202020204" pitchFamily="34" charset="0"/>
                <a:cs typeface="Arial" panose="020B0604020202020204" pitchFamily="34" charset="0"/>
              </a:rPr>
              <a:t>Shift in the ways in which the state was governed </a:t>
            </a:r>
          </a:p>
          <a:p>
            <a:r>
              <a:rPr lang="en-CA" sz="3600" b="1" dirty="0">
                <a:solidFill>
                  <a:schemeClr val="tx1">
                    <a:lumMod val="95000"/>
                    <a:lumOff val="5000"/>
                  </a:schemeClr>
                </a:solidFill>
                <a:latin typeface="Arial" panose="020B0604020202020204" pitchFamily="34" charset="0"/>
                <a:cs typeface="Arial" panose="020B0604020202020204" pitchFamily="34" charset="0"/>
              </a:rPr>
              <a:t>From authoritarian to democratic liberal societies</a:t>
            </a:r>
          </a:p>
        </p:txBody>
      </p:sp>
    </p:spTree>
    <p:extLst>
      <p:ext uri="{BB962C8B-B14F-4D97-AF65-F5344CB8AC3E}">
        <p14:creationId xmlns:p14="http://schemas.microsoft.com/office/powerpoint/2010/main" val="1667805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CA" sz="3200" b="1" dirty="0">
                <a:latin typeface="Arial" panose="020B0604020202020204" pitchFamily="34" charset="0"/>
                <a:cs typeface="Arial" panose="020B0604020202020204" pitchFamily="34" charset="0"/>
              </a:rPr>
              <a:t>Policing before ‘the Police’</a:t>
            </a:r>
            <a:endParaRPr lang="en-US" sz="3200"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lnSpcReduction="10000"/>
          </a:bodyPr>
          <a:lstStyle/>
          <a:p>
            <a:r>
              <a:rPr lang="en-CA" sz="2800" b="1" dirty="0">
                <a:latin typeface="Arial" panose="020B0604020202020204" pitchFamily="34" charset="0"/>
                <a:cs typeface="Arial" panose="020B0604020202020204" pitchFamily="34" charset="0"/>
              </a:rPr>
              <a:t>In authoritarian and feudal societies, </a:t>
            </a:r>
            <a:r>
              <a:rPr lang="en-CA" sz="2800" b="1" dirty="0">
                <a:solidFill>
                  <a:schemeClr val="tx1">
                    <a:lumMod val="95000"/>
                    <a:lumOff val="5000"/>
                  </a:schemeClr>
                </a:solidFill>
                <a:latin typeface="Arial" panose="020B0604020202020204" pitchFamily="34" charset="0"/>
                <a:cs typeface="Arial" panose="020B0604020202020204" pitchFamily="34" charset="0"/>
              </a:rPr>
              <a:t>royal authority defined laws, rules, values that were policed by </a:t>
            </a:r>
          </a:p>
          <a:p>
            <a:r>
              <a:rPr lang="en-CA" sz="2800" b="1" dirty="0">
                <a:latin typeface="Arial" panose="020B0604020202020204" pitchFamily="34" charset="0"/>
                <a:cs typeface="Arial" panose="020B0604020202020204" pitchFamily="34" charset="0"/>
              </a:rPr>
              <a:t>Feudal elites and </a:t>
            </a:r>
            <a:r>
              <a:rPr lang="en-CA" sz="2800" b="1" dirty="0">
                <a:solidFill>
                  <a:schemeClr val="tx1">
                    <a:lumMod val="95000"/>
                    <a:lumOff val="5000"/>
                  </a:schemeClr>
                </a:solidFill>
                <a:latin typeface="Arial" panose="020B0604020202020204" pitchFamily="34" charset="0"/>
                <a:cs typeface="Arial" panose="020B0604020202020204" pitchFamily="34" charset="0"/>
              </a:rPr>
              <a:t>appointed intermediaries </a:t>
            </a:r>
          </a:p>
          <a:p>
            <a:r>
              <a:rPr lang="en-CA" sz="2800" b="1" dirty="0">
                <a:solidFill>
                  <a:schemeClr val="tx1">
                    <a:lumMod val="95000"/>
                    <a:lumOff val="5000"/>
                  </a:schemeClr>
                </a:solidFill>
                <a:latin typeface="Arial" panose="020B0604020202020204" pitchFamily="34" charset="0"/>
                <a:cs typeface="Arial" panose="020B0604020202020204" pitchFamily="34" charset="0"/>
              </a:rPr>
              <a:t>armies </a:t>
            </a:r>
          </a:p>
          <a:p>
            <a:r>
              <a:rPr lang="en-CA" sz="2800" b="1" dirty="0">
                <a:latin typeface="Arial" panose="020B0604020202020204" pitchFamily="34" charset="0"/>
                <a:cs typeface="Arial" panose="020B0604020202020204" pitchFamily="34" charset="0"/>
              </a:rPr>
              <a:t>Governance operated or compliance was achieved</a:t>
            </a:r>
          </a:p>
          <a:p>
            <a:r>
              <a:rPr lang="en-CA" sz="2800" b="1" dirty="0">
                <a:latin typeface="Arial" panose="020B0604020202020204" pitchFamily="34" charset="0"/>
                <a:cs typeface="Arial" panose="020B0604020202020204" pitchFamily="34" charset="0"/>
              </a:rPr>
              <a:t>through public torture and killings </a:t>
            </a:r>
          </a:p>
          <a:p>
            <a:r>
              <a:rPr lang="en-CA" sz="2800" b="1" dirty="0">
                <a:latin typeface="Arial" panose="020B0604020202020204" pitchFamily="34" charset="0"/>
                <a:cs typeface="Arial" panose="020B0604020202020204" pitchFamily="34" charset="0"/>
              </a:rPr>
              <a:t>Through the use of violence</a:t>
            </a:r>
            <a:r>
              <a:rPr lang="en-CA" sz="2800" dirty="0">
                <a:latin typeface="Arial" panose="020B0604020202020204" pitchFamily="34" charset="0"/>
                <a:cs typeface="Arial" panose="020B0604020202020204" pitchFamily="34" charset="0"/>
              </a:rPr>
              <a:t> </a:t>
            </a:r>
            <a:r>
              <a:rPr lang="en-CA" sz="2800" b="1" dirty="0">
                <a:latin typeface="Arial" panose="020B0604020202020204" pitchFamily="34" charset="0"/>
                <a:cs typeface="Arial" panose="020B0604020202020204" pitchFamily="34" charset="0"/>
              </a:rPr>
              <a:t>and threats thereof</a:t>
            </a:r>
          </a:p>
          <a:p>
            <a:endParaRPr lang="en-US"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96255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CA" sz="3200" b="1" dirty="0">
                <a:latin typeface="Arial" panose="020B0604020202020204" pitchFamily="34" charset="0"/>
                <a:cs typeface="Arial" panose="020B0604020202020204" pitchFamily="34" charset="0"/>
              </a:rPr>
              <a:t>Policing before ‘the Police’</a:t>
            </a:r>
            <a:br>
              <a:rPr lang="en-CA" sz="3200" b="1" dirty="0">
                <a:latin typeface="Arial" panose="020B0604020202020204" pitchFamily="34" charset="0"/>
                <a:cs typeface="Arial" panose="020B0604020202020204" pitchFamily="34" charset="0"/>
              </a:rPr>
            </a:br>
            <a:endParaRPr lang="en-CA" sz="3200"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Autofit/>
          </a:bodyPr>
          <a:lstStyle/>
          <a:p>
            <a:endParaRPr lang="en-CA" sz="2800" b="1" dirty="0">
              <a:latin typeface="Arial" panose="020B0604020202020204" pitchFamily="34" charset="0"/>
              <a:cs typeface="Arial" panose="020B0604020202020204" pitchFamily="34" charset="0"/>
            </a:endParaRPr>
          </a:p>
          <a:p>
            <a:r>
              <a:rPr lang="en-CA" sz="2800" b="1" dirty="0">
                <a:latin typeface="Arial" panose="020B0604020202020204" pitchFamily="34" charset="0"/>
                <a:cs typeface="Arial" panose="020B0604020202020204" pitchFamily="34" charset="0"/>
              </a:rPr>
              <a:t> </a:t>
            </a:r>
            <a:r>
              <a:rPr lang="en-CA" sz="2800" b="1" u="sng" dirty="0">
                <a:latin typeface="Arial" panose="020B0604020202020204" pitchFamily="34" charset="0"/>
                <a:cs typeface="Arial" panose="020B0604020202020204" pitchFamily="34" charset="0"/>
              </a:rPr>
              <a:t>Communal Policing </a:t>
            </a:r>
            <a:r>
              <a:rPr lang="en-CA" sz="2800" b="1" dirty="0">
                <a:latin typeface="Arial" panose="020B0604020202020204" pitchFamily="34" charset="0"/>
                <a:cs typeface="Arial" panose="020B0604020202020204" pitchFamily="34" charset="0"/>
              </a:rPr>
              <a:t>: </a:t>
            </a:r>
          </a:p>
          <a:p>
            <a:r>
              <a:rPr lang="en-CA" sz="2800" b="1" dirty="0">
                <a:solidFill>
                  <a:schemeClr val="tx1">
                    <a:lumMod val="95000"/>
                    <a:lumOff val="5000"/>
                  </a:schemeClr>
                </a:solidFill>
                <a:latin typeface="Arial" panose="020B0604020202020204" pitchFamily="34" charset="0"/>
                <a:cs typeface="Arial" panose="020B0604020202020204" pitchFamily="34" charset="0"/>
              </a:rPr>
              <a:t>Customary practices defined by community leaders, a belief system or religion was</a:t>
            </a:r>
            <a:endParaRPr lang="en-CA" sz="2800" b="1" dirty="0">
              <a:latin typeface="Arial" panose="020B0604020202020204" pitchFamily="34" charset="0"/>
              <a:cs typeface="Arial" panose="020B0604020202020204" pitchFamily="34" charset="0"/>
            </a:endParaRPr>
          </a:p>
          <a:p>
            <a:r>
              <a:rPr lang="en-CA" sz="2800" b="1" dirty="0">
                <a:solidFill>
                  <a:schemeClr val="tx1">
                    <a:lumMod val="95000"/>
                    <a:lumOff val="5000"/>
                  </a:schemeClr>
                </a:solidFill>
                <a:latin typeface="Arial" panose="020B0604020202020204" pitchFamily="34" charset="0"/>
                <a:cs typeface="Arial" panose="020B0604020202020204" pitchFamily="34" charset="0"/>
              </a:rPr>
              <a:t>policed by </a:t>
            </a:r>
          </a:p>
          <a:p>
            <a:r>
              <a:rPr lang="en-CA" sz="2800" b="1" dirty="0">
                <a:solidFill>
                  <a:schemeClr val="tx1">
                    <a:lumMod val="95000"/>
                    <a:lumOff val="5000"/>
                  </a:schemeClr>
                </a:solidFill>
                <a:latin typeface="Arial" panose="020B0604020202020204" pitchFamily="34" charset="0"/>
                <a:cs typeface="Arial" panose="020B0604020202020204" pitchFamily="34" charset="0"/>
              </a:rPr>
              <a:t>kin, </a:t>
            </a:r>
          </a:p>
          <a:p>
            <a:r>
              <a:rPr lang="en-CA" sz="2800" b="1" dirty="0">
                <a:solidFill>
                  <a:schemeClr val="tx1">
                    <a:lumMod val="95000"/>
                    <a:lumOff val="5000"/>
                  </a:schemeClr>
                </a:solidFill>
                <a:latin typeface="Arial" panose="020B0604020202020204" pitchFamily="34" charset="0"/>
                <a:cs typeface="Arial" panose="020B0604020202020204" pitchFamily="34" charset="0"/>
              </a:rPr>
              <a:t>family </a:t>
            </a:r>
          </a:p>
          <a:p>
            <a:r>
              <a:rPr lang="en-CA" sz="2800" b="1" dirty="0">
                <a:solidFill>
                  <a:schemeClr val="tx1">
                    <a:lumMod val="95000"/>
                    <a:lumOff val="5000"/>
                  </a:schemeClr>
                </a:solidFill>
                <a:latin typeface="Arial" panose="020B0604020202020204" pitchFamily="34" charset="0"/>
                <a:cs typeface="Arial" panose="020B0604020202020204" pitchFamily="34" charset="0"/>
              </a:rPr>
              <a:t>Community</a:t>
            </a:r>
          </a:p>
          <a:p>
            <a:endParaRPr lang="en-CA" sz="2800" b="1" dirty="0">
              <a:solidFill>
                <a:schemeClr val="tx1">
                  <a:lumMod val="95000"/>
                  <a:lumOff val="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998957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9EF17-DB52-4E13-A2DF-48F6280839F7}"/>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FF809EC8-6EA8-4CAF-8A2E-376AA2336356}"/>
              </a:ext>
            </a:extLst>
          </p:cNvPr>
          <p:cNvSpPr>
            <a:spLocks noGrp="1"/>
          </p:cNvSpPr>
          <p:nvPr>
            <p:ph idx="1"/>
          </p:nvPr>
        </p:nvSpPr>
        <p:spPr/>
        <p:txBody>
          <a:bodyPr>
            <a:normAutofit/>
          </a:bodyPr>
          <a:lstStyle/>
          <a:p>
            <a:pPr algn="ctr"/>
            <a:r>
              <a:rPr lang="en-US" sz="3600" b="1" dirty="0">
                <a:latin typeface="Arial" panose="020B0604020202020204" pitchFamily="34" charset="0"/>
                <a:cs typeface="Arial" panose="020B0604020202020204" pitchFamily="34" charset="0"/>
              </a:rPr>
              <a:t>Communal policing is not the same as community policing!</a:t>
            </a:r>
            <a:endParaRPr lang="en-CA" sz="36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87757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CA" b="1" u="sng" dirty="0">
                <a:latin typeface="Arial" panose="020B0604020202020204" pitchFamily="34" charset="0"/>
                <a:cs typeface="Arial" panose="020B0604020202020204" pitchFamily="34" charset="0"/>
              </a:rPr>
              <a:t>Community</a:t>
            </a:r>
            <a:r>
              <a:rPr lang="en-CA" b="1" dirty="0">
                <a:latin typeface="Arial" panose="020B0604020202020204" pitchFamily="34" charset="0"/>
                <a:cs typeface="Arial" panose="020B0604020202020204" pitchFamily="34" charset="0"/>
              </a:rPr>
              <a:t> Policing</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Autofit/>
          </a:bodyPr>
          <a:lstStyle/>
          <a:p>
            <a:r>
              <a:rPr lang="en-CA" sz="2800" b="1" dirty="0">
                <a:latin typeface="Arial" panose="020B0604020202020204" pitchFamily="34" charset="0"/>
                <a:cs typeface="Arial" panose="020B0604020202020204" pitchFamily="34" charset="0"/>
              </a:rPr>
              <a:t>State police apparatus</a:t>
            </a:r>
          </a:p>
          <a:p>
            <a:r>
              <a:rPr lang="en-CA" sz="2800" b="1" dirty="0">
                <a:latin typeface="Arial" panose="020B0604020202020204" pitchFamily="34" charset="0"/>
                <a:cs typeface="Arial" panose="020B0604020202020204" pitchFamily="34" charset="0"/>
              </a:rPr>
              <a:t>Police strategy with the focus on specific communities</a:t>
            </a:r>
          </a:p>
          <a:p>
            <a:r>
              <a:rPr lang="en-CA" sz="2800" b="1" dirty="0">
                <a:latin typeface="Arial" panose="020B0604020202020204" pitchFamily="34" charset="0"/>
                <a:cs typeface="Arial" panose="020B0604020202020204" pitchFamily="34" charset="0"/>
              </a:rPr>
              <a:t>1980s and 1990s </a:t>
            </a:r>
          </a:p>
          <a:p>
            <a:r>
              <a:rPr lang="en-CA" sz="2800" b="1" dirty="0">
                <a:latin typeface="Arial" panose="020B0604020202020204" pitchFamily="34" charset="0"/>
                <a:cs typeface="Arial" panose="020B0604020202020204" pitchFamily="34" charset="0"/>
              </a:rPr>
              <a:t>Proactive approach to prevent crime</a:t>
            </a:r>
          </a:p>
          <a:p>
            <a:r>
              <a:rPr lang="en-CA" sz="2800" b="1" dirty="0">
                <a:latin typeface="Arial" panose="020B0604020202020204" pitchFamily="34" charset="0"/>
                <a:cs typeface="Arial" panose="020B0604020202020204" pitchFamily="34" charset="0"/>
              </a:rPr>
              <a:t>Officers presence: patrol</a:t>
            </a:r>
          </a:p>
        </p:txBody>
      </p:sp>
    </p:spTree>
    <p:extLst>
      <p:ext uri="{BB962C8B-B14F-4D97-AF65-F5344CB8AC3E}">
        <p14:creationId xmlns:p14="http://schemas.microsoft.com/office/powerpoint/2010/main" val="19383867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CA" b="1" u="sng" dirty="0">
                <a:latin typeface="Arial" panose="020B0604020202020204" pitchFamily="34" charset="0"/>
                <a:cs typeface="Arial" panose="020B0604020202020204" pitchFamily="34" charset="0"/>
              </a:rPr>
              <a:t>Community</a:t>
            </a:r>
            <a:r>
              <a:rPr lang="en-CA" b="1" dirty="0">
                <a:latin typeface="Arial" panose="020B0604020202020204" pitchFamily="34" charset="0"/>
                <a:cs typeface="Arial" panose="020B0604020202020204" pitchFamily="34" charset="0"/>
              </a:rPr>
              <a:t> Policing </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fontScale="92500" lnSpcReduction="20000"/>
          </a:bodyPr>
          <a:lstStyle/>
          <a:p>
            <a:r>
              <a:rPr lang="en-CA" sz="2800" b="1" u="sng" dirty="0">
                <a:latin typeface="Arial" panose="020B0604020202020204" pitchFamily="34" charset="0"/>
                <a:cs typeface="Arial" panose="020B0604020202020204" pitchFamily="34" charset="0"/>
              </a:rPr>
              <a:t>Official Goals: </a:t>
            </a:r>
          </a:p>
          <a:p>
            <a:r>
              <a:rPr lang="en-CA" sz="2800" b="1" dirty="0">
                <a:latin typeface="Arial" panose="020B0604020202020204" pitchFamily="34" charset="0"/>
                <a:cs typeface="Arial" panose="020B0604020202020204" pitchFamily="34" charset="0"/>
              </a:rPr>
              <a:t>Building relationships with member and leader in the community </a:t>
            </a:r>
          </a:p>
          <a:p>
            <a:r>
              <a:rPr lang="en-CA" sz="2800" b="1" dirty="0">
                <a:latin typeface="Arial" panose="020B0604020202020204" pitchFamily="34" charset="0"/>
                <a:cs typeface="Arial" panose="020B0604020202020204" pitchFamily="34" charset="0"/>
              </a:rPr>
              <a:t>https://www.youtube.com/watch?v=UCMgXMc-So8</a:t>
            </a:r>
          </a:p>
          <a:p>
            <a:r>
              <a:rPr lang="en-CA" sz="2800" b="1" dirty="0">
                <a:latin typeface="Arial" panose="020B0604020202020204" pitchFamily="34" charset="0"/>
                <a:cs typeface="Arial" panose="020B0604020202020204" pitchFamily="34" charset="0"/>
              </a:rPr>
              <a:t>Shift in the role of law enforcement:</a:t>
            </a:r>
          </a:p>
          <a:p>
            <a:r>
              <a:rPr lang="en-CA" sz="2800" b="1" dirty="0">
                <a:latin typeface="Arial" panose="020B0604020202020204" pitchFamily="34" charset="0"/>
                <a:cs typeface="Arial" panose="020B0604020202020204" pitchFamily="34" charset="0"/>
              </a:rPr>
              <a:t>from reactive, incident-driven bureaucracy to “partnership with the community”</a:t>
            </a:r>
          </a:p>
          <a:p>
            <a:r>
              <a:rPr lang="en-CA" sz="2800" b="1" u="sng" dirty="0">
                <a:latin typeface="Arial" panose="020B0604020202020204" pitchFamily="34" charset="0"/>
                <a:cs typeface="Arial" panose="020B0604020202020204" pitchFamily="34" charset="0"/>
              </a:rPr>
              <a:t>Critiques:</a:t>
            </a:r>
            <a:r>
              <a:rPr lang="en-CA" sz="2800" b="1" dirty="0">
                <a:latin typeface="Arial" panose="020B0604020202020204" pitchFamily="34" charset="0"/>
                <a:cs typeface="Arial" panose="020B0604020202020204" pitchFamily="34" charset="0"/>
              </a:rPr>
              <a:t> racial profiling</a:t>
            </a:r>
            <a:endParaRPr lang="en-US" sz="2800" b="1"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31554440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31D72-0589-4E0B-96D6-777FF50C9E56}"/>
              </a:ext>
            </a:extLst>
          </p:cNvPr>
          <p:cNvSpPr>
            <a:spLocks noGrp="1"/>
          </p:cNvSpPr>
          <p:nvPr>
            <p:ph type="title"/>
          </p:nvPr>
        </p:nvSpPr>
        <p:spPr/>
        <p:txBody>
          <a:bodyPr>
            <a:normAutofit/>
          </a:bodyPr>
          <a:lstStyle/>
          <a:p>
            <a:pPr algn="ctr"/>
            <a:r>
              <a:rPr lang="en-CA" sz="3200" b="1" dirty="0">
                <a:latin typeface="Arial" panose="020B0604020202020204" pitchFamily="34" charset="0"/>
                <a:cs typeface="Arial" panose="020B0604020202020204" pitchFamily="34" charset="0"/>
              </a:rPr>
              <a:t>Historical Background</a:t>
            </a:r>
          </a:p>
        </p:txBody>
      </p:sp>
      <p:sp>
        <p:nvSpPr>
          <p:cNvPr id="3" name="Content Placeholder 2">
            <a:extLst>
              <a:ext uri="{FF2B5EF4-FFF2-40B4-BE49-F238E27FC236}">
                <a16:creationId xmlns:a16="http://schemas.microsoft.com/office/drawing/2014/main" id="{5CF6C85C-7AE6-464C-952C-E179DCCE20F3}"/>
              </a:ext>
            </a:extLst>
          </p:cNvPr>
          <p:cNvSpPr>
            <a:spLocks noGrp="1"/>
          </p:cNvSpPr>
          <p:nvPr>
            <p:ph idx="1"/>
          </p:nvPr>
        </p:nvSpPr>
        <p:spPr/>
        <p:txBody>
          <a:bodyPr>
            <a:normAutofit/>
          </a:bodyPr>
          <a:lstStyle/>
          <a:p>
            <a:pPr algn="ctr"/>
            <a:r>
              <a:rPr lang="en-US" sz="3200" b="1" dirty="0">
                <a:latin typeface="Arial" panose="020B0604020202020204" pitchFamily="34" charset="0"/>
                <a:cs typeface="Arial" panose="020B0604020202020204" pitchFamily="34" charset="0"/>
              </a:rPr>
              <a:t>The Emergence of the Police Apparatus</a:t>
            </a:r>
            <a:endParaRPr lang="en-CA" sz="32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25526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00C29-45FE-454D-AC70-1E9B96919F14}"/>
              </a:ext>
            </a:extLst>
          </p:cNvPr>
          <p:cNvSpPr>
            <a:spLocks noGrp="1"/>
          </p:cNvSpPr>
          <p:nvPr>
            <p:ph type="title"/>
          </p:nvPr>
        </p:nvSpPr>
        <p:spPr/>
        <p:txBody>
          <a:bodyPr>
            <a:noAutofit/>
          </a:bodyPr>
          <a:lstStyle/>
          <a:p>
            <a:pPr algn="ctr"/>
            <a:r>
              <a:rPr lang="en-US" b="1" dirty="0">
                <a:latin typeface="Arial" panose="020B0604020202020204" pitchFamily="34" charset="0"/>
                <a:cs typeface="Arial" panose="020B0604020202020204" pitchFamily="34" charset="0"/>
              </a:rPr>
              <a:t>British System: </a:t>
            </a:r>
            <a:r>
              <a:rPr lang="en-CA" b="1" dirty="0">
                <a:solidFill>
                  <a:schemeClr val="tx1">
                    <a:lumMod val="95000"/>
                    <a:lumOff val="5000"/>
                  </a:schemeClr>
                </a:solidFill>
                <a:latin typeface="Arial" panose="020B0604020202020204" pitchFamily="34" charset="0"/>
                <a:cs typeface="Arial" panose="020B0604020202020204" pitchFamily="34" charset="0"/>
              </a:rPr>
              <a:t>The emergence of the constable (14/15</a:t>
            </a:r>
            <a:r>
              <a:rPr lang="en-CA" b="1" baseline="30000" dirty="0">
                <a:solidFill>
                  <a:schemeClr val="tx1">
                    <a:lumMod val="95000"/>
                    <a:lumOff val="5000"/>
                  </a:schemeClr>
                </a:solidFill>
                <a:latin typeface="Arial" panose="020B0604020202020204" pitchFamily="34" charset="0"/>
                <a:cs typeface="Arial" panose="020B0604020202020204" pitchFamily="34" charset="0"/>
              </a:rPr>
              <a:t>th</a:t>
            </a:r>
            <a:r>
              <a:rPr lang="en-CA" b="1" dirty="0">
                <a:solidFill>
                  <a:schemeClr val="tx1">
                    <a:lumMod val="95000"/>
                    <a:lumOff val="5000"/>
                  </a:schemeClr>
                </a:solidFill>
                <a:latin typeface="Arial" panose="020B0604020202020204" pitchFamily="34" charset="0"/>
                <a:cs typeface="Arial" panose="020B0604020202020204" pitchFamily="34" charset="0"/>
              </a:rPr>
              <a:t> century)</a:t>
            </a:r>
            <a:br>
              <a:rPr lang="en-CA" b="1" dirty="0">
                <a:latin typeface="Arial" panose="020B0604020202020204" pitchFamily="34" charset="0"/>
                <a:cs typeface="Arial" panose="020B0604020202020204" pitchFamily="34" charset="0"/>
              </a:rPr>
            </a:br>
            <a:endParaRPr lang="en-CA"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1C44F1E2-0A7D-40C3-81BF-FF3451E3D644}"/>
              </a:ext>
            </a:extLst>
          </p:cNvPr>
          <p:cNvSpPr>
            <a:spLocks noGrp="1"/>
          </p:cNvSpPr>
          <p:nvPr>
            <p:ph idx="1"/>
          </p:nvPr>
        </p:nvSpPr>
        <p:spPr/>
        <p:txBody>
          <a:bodyPr>
            <a:normAutofit fontScale="92500"/>
          </a:bodyPr>
          <a:lstStyle/>
          <a:p>
            <a:r>
              <a:rPr lang="en-CA" sz="2400" b="1" dirty="0">
                <a:latin typeface="Arial" panose="020B0604020202020204" pitchFamily="34" charset="0"/>
                <a:cs typeface="Arial" panose="020B0604020202020204" pitchFamily="34" charset="0"/>
              </a:rPr>
              <a:t>The constable was introduced in England and was originally a post in the royal establishment but evolved into local offices in parishes.</a:t>
            </a:r>
          </a:p>
          <a:p>
            <a:r>
              <a:rPr lang="en-CA" sz="2400" b="1" dirty="0">
                <a:latin typeface="Arial" panose="020B0604020202020204" pitchFamily="34" charset="0"/>
                <a:cs typeface="Arial" panose="020B0604020202020204" pitchFamily="34" charset="0"/>
              </a:rPr>
              <a:t>Constables were appointed and typically members of a higher class</a:t>
            </a:r>
          </a:p>
          <a:p>
            <a:r>
              <a:rPr lang="en-CA" sz="2400" b="1" dirty="0">
                <a:latin typeface="Arial" panose="020B0604020202020204" pitchFamily="34" charset="0"/>
                <a:cs typeface="Arial" panose="020B0604020202020204" pitchFamily="34" charset="0"/>
              </a:rPr>
              <a:t>Unpaid (open to corruption and favoritism)</a:t>
            </a:r>
          </a:p>
          <a:p>
            <a:r>
              <a:rPr lang="en-CA" sz="2400" b="1" dirty="0">
                <a:latin typeface="Arial" panose="020B0604020202020204" pitchFamily="34" charset="0"/>
                <a:cs typeface="Arial" panose="020B0604020202020204" pitchFamily="34" charset="0"/>
              </a:rPr>
              <a:t>Provided security, guarded city gates, called times</a:t>
            </a:r>
          </a:p>
          <a:p>
            <a:r>
              <a:rPr lang="en-CA" sz="2400" b="1" dirty="0">
                <a:latin typeface="Arial" panose="020B0604020202020204" pitchFamily="34" charset="0"/>
                <a:cs typeface="Arial" panose="020B0604020202020204" pitchFamily="34" charset="0"/>
              </a:rPr>
              <a:t>The investigation and prosecution of crimes remained a private matter handled by the victims and their families and communities</a:t>
            </a:r>
          </a:p>
          <a:p>
            <a:endParaRPr lang="en-CA"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282034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9F725-613B-495E-86A9-88A57BF15F8E}"/>
              </a:ext>
            </a:extLst>
          </p:cNvPr>
          <p:cNvSpPr>
            <a:spLocks noGrp="1"/>
          </p:cNvSpPr>
          <p:nvPr>
            <p:ph type="title"/>
          </p:nvPr>
        </p:nvSpPr>
        <p:spPr/>
        <p:txBody>
          <a:bodyPr>
            <a:normAutofit/>
          </a:bodyPr>
          <a:lstStyle/>
          <a:p>
            <a:pPr algn="ctr"/>
            <a:r>
              <a:rPr lang="en-CA" sz="3600" b="1" dirty="0">
                <a:solidFill>
                  <a:schemeClr val="tx1">
                    <a:lumMod val="95000"/>
                    <a:lumOff val="5000"/>
                  </a:schemeClr>
                </a:solidFill>
                <a:latin typeface="Arial" panose="020B0604020202020204" pitchFamily="34" charset="0"/>
                <a:cs typeface="Arial" panose="020B0604020202020204" pitchFamily="34" charset="0"/>
              </a:rPr>
              <a:t>16</a:t>
            </a:r>
            <a:r>
              <a:rPr lang="en-CA" sz="3600" b="1" baseline="30000" dirty="0">
                <a:solidFill>
                  <a:schemeClr val="tx1">
                    <a:lumMod val="95000"/>
                    <a:lumOff val="5000"/>
                  </a:schemeClr>
                </a:solidFill>
                <a:latin typeface="Arial" panose="020B0604020202020204" pitchFamily="34" charset="0"/>
                <a:cs typeface="Arial" panose="020B0604020202020204" pitchFamily="34" charset="0"/>
              </a:rPr>
              <a:t>th</a:t>
            </a:r>
            <a:r>
              <a:rPr lang="en-CA" sz="3600" b="1" dirty="0">
                <a:solidFill>
                  <a:schemeClr val="tx1">
                    <a:lumMod val="95000"/>
                    <a:lumOff val="5000"/>
                  </a:schemeClr>
                </a:solidFill>
                <a:latin typeface="Arial" panose="020B0604020202020204" pitchFamily="34" charset="0"/>
                <a:cs typeface="Arial" panose="020B0604020202020204" pitchFamily="34" charset="0"/>
              </a:rPr>
              <a:t> Century: Stipendiary Police</a:t>
            </a:r>
            <a:br>
              <a:rPr lang="en-CA" sz="3600" b="1" dirty="0">
                <a:solidFill>
                  <a:schemeClr val="tx1">
                    <a:lumMod val="95000"/>
                    <a:lumOff val="5000"/>
                  </a:schemeClr>
                </a:solidFill>
                <a:latin typeface="Arial" panose="020B0604020202020204" pitchFamily="34" charset="0"/>
                <a:cs typeface="Arial" panose="020B0604020202020204" pitchFamily="34" charset="0"/>
              </a:rPr>
            </a:br>
            <a:endParaRPr lang="en-CA" dirty="0"/>
          </a:p>
        </p:txBody>
      </p:sp>
      <p:sp>
        <p:nvSpPr>
          <p:cNvPr id="3" name="Content Placeholder 2">
            <a:extLst>
              <a:ext uri="{FF2B5EF4-FFF2-40B4-BE49-F238E27FC236}">
                <a16:creationId xmlns:a16="http://schemas.microsoft.com/office/drawing/2014/main" id="{30FA0E2F-BC2A-4968-AD0D-5B5B5AD44A91}"/>
              </a:ext>
            </a:extLst>
          </p:cNvPr>
          <p:cNvSpPr>
            <a:spLocks noGrp="1"/>
          </p:cNvSpPr>
          <p:nvPr>
            <p:ph idx="1"/>
          </p:nvPr>
        </p:nvSpPr>
        <p:spPr/>
        <p:txBody>
          <a:bodyPr/>
          <a:lstStyle/>
          <a:p>
            <a:r>
              <a:rPr lang="en-US" sz="2000" b="1" dirty="0">
                <a:latin typeface="Arial" panose="020B0604020202020204" pitchFamily="34" charset="0"/>
                <a:cs typeface="Arial" panose="020B0604020202020204" pitchFamily="34" charset="0"/>
              </a:rPr>
              <a:t>Stipendiary police were private individuals that were hired by merchants, church members, insurers and others to protect their property and their persons.</a:t>
            </a:r>
          </a:p>
          <a:p>
            <a:r>
              <a:rPr lang="en-US" sz="2000" b="1" dirty="0">
                <a:latin typeface="Arial" panose="020B0604020202020204" pitchFamily="34" charset="0"/>
                <a:cs typeface="Arial" panose="020B0604020202020204" pitchFamily="34" charset="0"/>
              </a:rPr>
              <a:t>Protection became a commodity for everybody with sufficient resources</a:t>
            </a:r>
          </a:p>
          <a:p>
            <a:r>
              <a:rPr lang="en-US" sz="2000" b="1" dirty="0">
                <a:latin typeface="Arial" panose="020B0604020202020204" pitchFamily="34" charset="0"/>
                <a:cs typeface="Arial" panose="020B0604020202020204" pitchFamily="34" charset="0"/>
              </a:rPr>
              <a:t>Policing became privatized as well as the catching of thieves or recovery of property was based on a reward system </a:t>
            </a:r>
          </a:p>
          <a:p>
            <a:r>
              <a:rPr lang="en-US" sz="2000" b="1" dirty="0">
                <a:latin typeface="Arial" panose="020B0604020202020204" pitchFamily="34" charset="0"/>
                <a:cs typeface="Arial" panose="020B0604020202020204" pitchFamily="34" charset="0"/>
              </a:rPr>
              <a:t>Private citizens or “common informers” were paid for the capture of thieves through reward programs </a:t>
            </a:r>
          </a:p>
          <a:p>
            <a:endParaRPr lang="en-CA" dirty="0"/>
          </a:p>
        </p:txBody>
      </p:sp>
    </p:spTree>
    <p:extLst>
      <p:ext uri="{BB962C8B-B14F-4D97-AF65-F5344CB8AC3E}">
        <p14:creationId xmlns:p14="http://schemas.microsoft.com/office/powerpoint/2010/main" val="18324822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F59F6-2615-48A3-8DCA-19084F7D8F49}"/>
              </a:ext>
            </a:extLst>
          </p:cNvPr>
          <p:cNvSpPr>
            <a:spLocks noGrp="1"/>
          </p:cNvSpPr>
          <p:nvPr>
            <p:ph type="title"/>
          </p:nvPr>
        </p:nvSpPr>
        <p:spPr/>
        <p:txBody>
          <a:bodyPr>
            <a:normAutofit/>
          </a:bodyPr>
          <a:lstStyle/>
          <a:p>
            <a:pPr algn="ctr"/>
            <a:r>
              <a:rPr lang="en-US" b="1" dirty="0">
                <a:latin typeface="Arial" panose="020B0604020202020204" pitchFamily="34" charset="0"/>
                <a:cs typeface="Arial" panose="020B0604020202020204" pitchFamily="34" charset="0"/>
              </a:rPr>
              <a:t>Critique of the Hybrid System </a:t>
            </a:r>
            <a:endParaRPr lang="en-CA"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3BE0C2B7-4C2A-4295-9F2A-833566435188}"/>
              </a:ext>
            </a:extLst>
          </p:cNvPr>
          <p:cNvSpPr>
            <a:spLocks noGrp="1"/>
          </p:cNvSpPr>
          <p:nvPr>
            <p:ph idx="1"/>
          </p:nvPr>
        </p:nvSpPr>
        <p:spPr/>
        <p:txBody>
          <a:bodyPr>
            <a:normAutofit/>
          </a:bodyPr>
          <a:lstStyle/>
          <a:p>
            <a:r>
              <a:rPr lang="en-US" sz="2400" b="1" dirty="0">
                <a:latin typeface="Arial" panose="020B0604020202020204" pitchFamily="34" charset="0"/>
                <a:cs typeface="Arial" panose="020B0604020202020204" pitchFamily="34" charset="0"/>
              </a:rPr>
              <a:t>Flawed hybrid system: discredited and corrupt constables and bounty hunters</a:t>
            </a:r>
          </a:p>
          <a:p>
            <a:r>
              <a:rPr lang="en-US" sz="2400" b="1" dirty="0">
                <a:latin typeface="Arial" panose="020B0604020202020204" pitchFamily="34" charset="0"/>
                <a:cs typeface="Arial" panose="020B0604020202020204" pitchFamily="34" charset="0"/>
              </a:rPr>
              <a:t>Could not deal with serious crimes and disorder and riots in industrializing cities</a:t>
            </a:r>
          </a:p>
          <a:p>
            <a:r>
              <a:rPr lang="en-US" sz="2400" b="1" dirty="0">
                <a:latin typeface="Arial" panose="020B0604020202020204" pitchFamily="34" charset="0"/>
                <a:cs typeface="Arial" panose="020B0604020202020204" pitchFamily="34" charset="0"/>
              </a:rPr>
              <a:t>A more efficient system was called for by political leaders (Patrick Colquhoun), shop owners, business and industry leaders</a:t>
            </a:r>
          </a:p>
        </p:txBody>
      </p:sp>
    </p:spTree>
    <p:extLst>
      <p:ext uri="{BB962C8B-B14F-4D97-AF65-F5344CB8AC3E}">
        <p14:creationId xmlns:p14="http://schemas.microsoft.com/office/powerpoint/2010/main" val="21085590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25F40-3241-4436-9F8D-55B317F89454}"/>
              </a:ext>
            </a:extLst>
          </p:cNvPr>
          <p:cNvSpPr>
            <a:spLocks noGrp="1"/>
          </p:cNvSpPr>
          <p:nvPr>
            <p:ph type="title"/>
          </p:nvPr>
        </p:nvSpPr>
        <p:spPr/>
        <p:txBody>
          <a:bodyPr>
            <a:normAutofit/>
          </a:bodyPr>
          <a:lstStyle/>
          <a:p>
            <a:pPr algn="ctr"/>
            <a:r>
              <a:rPr lang="en-US" b="1" dirty="0">
                <a:latin typeface="Arial" panose="020B0604020202020204" pitchFamily="34" charset="0"/>
                <a:cs typeface="Arial" panose="020B0604020202020204" pitchFamily="34" charset="0"/>
              </a:rPr>
              <a:t>‘The Police’ as a Profession</a:t>
            </a:r>
            <a:endParaRPr lang="en-CA"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8422663-DEF7-427D-AE06-912C5247B545}"/>
              </a:ext>
            </a:extLst>
          </p:cNvPr>
          <p:cNvSpPr>
            <a:spLocks noGrp="1"/>
          </p:cNvSpPr>
          <p:nvPr>
            <p:ph idx="1"/>
          </p:nvPr>
        </p:nvSpPr>
        <p:spPr/>
        <p:txBody>
          <a:bodyPr>
            <a:normAutofit lnSpcReduction="10000"/>
          </a:bodyPr>
          <a:lstStyle/>
          <a:p>
            <a:r>
              <a:rPr lang="en-US" sz="2400" b="1" dirty="0">
                <a:latin typeface="Arial" panose="020B0604020202020204" pitchFamily="34" charset="0"/>
                <a:cs typeface="Arial" panose="020B0604020202020204" pitchFamily="34" charset="0"/>
              </a:rPr>
              <a:t>During the 18</a:t>
            </a:r>
            <a:r>
              <a:rPr lang="en-US" sz="2400" b="1" baseline="30000" dirty="0">
                <a:latin typeface="Arial" panose="020B0604020202020204" pitchFamily="34" charset="0"/>
                <a:cs typeface="Arial" panose="020B0604020202020204" pitchFamily="34" charset="0"/>
              </a:rPr>
              <a:t>th</a:t>
            </a:r>
            <a:r>
              <a:rPr lang="en-US" sz="2400" b="1" dirty="0">
                <a:latin typeface="Arial" panose="020B0604020202020204" pitchFamily="34" charset="0"/>
                <a:cs typeface="Arial" panose="020B0604020202020204" pitchFamily="34" charset="0"/>
              </a:rPr>
              <a:t> century the constable and the stipendiary police systems were slowly replaced by “a permanent body of men who would be in charge of policing under the higher authority of the state”.</a:t>
            </a:r>
          </a:p>
          <a:p>
            <a:r>
              <a:rPr lang="en-CA" sz="2400" b="1" dirty="0">
                <a:latin typeface="Arial" panose="020B0604020202020204" pitchFamily="34" charset="0"/>
                <a:cs typeface="Arial" panose="020B0604020202020204" pitchFamily="34" charset="0"/>
              </a:rPr>
              <a:t>Colquhoun called for </a:t>
            </a:r>
          </a:p>
          <a:p>
            <a:r>
              <a:rPr lang="en-US" sz="2400" b="1" dirty="0">
                <a:latin typeface="Arial" panose="020B0604020202020204" pitchFamily="34" charset="0"/>
                <a:cs typeface="Arial" panose="020B0604020202020204" pitchFamily="34" charset="0"/>
              </a:rPr>
              <a:t>Paid constables and </a:t>
            </a:r>
          </a:p>
          <a:p>
            <a:r>
              <a:rPr lang="en-US" sz="2400" b="1" dirty="0">
                <a:latin typeface="Arial" panose="020B0604020202020204" pitchFamily="34" charset="0"/>
                <a:cs typeface="Arial" panose="020B0604020202020204" pitchFamily="34" charset="0"/>
              </a:rPr>
              <a:t>Hiring process of men who wanted to become members of a constabulary force with an emphasis on the personal qualities:</a:t>
            </a:r>
          </a:p>
          <a:p>
            <a:r>
              <a:rPr lang="en-US" sz="2400" b="1" dirty="0">
                <a:latin typeface="Arial" panose="020B0604020202020204" pitchFamily="34" charset="0"/>
                <a:cs typeface="Arial" panose="020B0604020202020204" pitchFamily="34" charset="0"/>
              </a:rPr>
              <a:t>Efficiency, integrity, and moral virtues </a:t>
            </a:r>
            <a:endParaRPr lang="en-CA" sz="2400" dirty="0"/>
          </a:p>
        </p:txBody>
      </p:sp>
    </p:spTree>
    <p:extLst>
      <p:ext uri="{BB962C8B-B14F-4D97-AF65-F5344CB8AC3E}">
        <p14:creationId xmlns:p14="http://schemas.microsoft.com/office/powerpoint/2010/main" val="6235004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CA" sz="3200" b="1" dirty="0">
                <a:latin typeface="Arial" panose="020B0604020202020204" pitchFamily="34" charset="0"/>
                <a:cs typeface="Arial" panose="020B0604020202020204" pitchFamily="34" charset="0"/>
              </a:rPr>
              <a:t>“The Police” Apparatus as an Institution of the State</a:t>
            </a:r>
          </a:p>
        </p:txBody>
      </p:sp>
      <p:sp>
        <p:nvSpPr>
          <p:cNvPr id="3" name="Content Placeholder 2"/>
          <p:cNvSpPr>
            <a:spLocks noGrp="1"/>
          </p:cNvSpPr>
          <p:nvPr>
            <p:ph idx="1"/>
          </p:nvPr>
        </p:nvSpPr>
        <p:spPr/>
        <p:txBody>
          <a:bodyPr>
            <a:normAutofit fontScale="92500" lnSpcReduction="10000"/>
          </a:bodyPr>
          <a:lstStyle/>
          <a:p>
            <a:r>
              <a:rPr lang="en-CA" sz="3200" b="1" dirty="0">
                <a:solidFill>
                  <a:schemeClr val="tx1">
                    <a:lumMod val="95000"/>
                    <a:lumOff val="5000"/>
                  </a:schemeClr>
                </a:solidFill>
                <a:latin typeface="Arial" panose="020B0604020202020204" pitchFamily="34" charset="0"/>
                <a:cs typeface="Arial" panose="020B0604020202020204" pitchFamily="34" charset="0"/>
              </a:rPr>
              <a:t>Emerged in Britain during the 18/19</a:t>
            </a:r>
            <a:r>
              <a:rPr lang="en-CA" sz="3200" b="1" baseline="30000" dirty="0">
                <a:solidFill>
                  <a:schemeClr val="tx1">
                    <a:lumMod val="95000"/>
                    <a:lumOff val="5000"/>
                  </a:schemeClr>
                </a:solidFill>
                <a:latin typeface="Arial" panose="020B0604020202020204" pitchFamily="34" charset="0"/>
                <a:cs typeface="Arial" panose="020B0604020202020204" pitchFamily="34" charset="0"/>
              </a:rPr>
              <a:t>th</a:t>
            </a:r>
            <a:r>
              <a:rPr lang="en-CA" sz="3200" b="1" dirty="0">
                <a:solidFill>
                  <a:schemeClr val="tx1">
                    <a:lumMod val="95000"/>
                    <a:lumOff val="5000"/>
                  </a:schemeClr>
                </a:solidFill>
                <a:latin typeface="Arial" panose="020B0604020202020204" pitchFamily="34" charset="0"/>
                <a:cs typeface="Arial" panose="020B0604020202020204" pitchFamily="34" charset="0"/>
              </a:rPr>
              <a:t> century</a:t>
            </a:r>
          </a:p>
          <a:p>
            <a:r>
              <a:rPr lang="en-CA" sz="3200" b="1" dirty="0">
                <a:solidFill>
                  <a:schemeClr val="tx1">
                    <a:lumMod val="95000"/>
                    <a:lumOff val="5000"/>
                  </a:schemeClr>
                </a:solidFill>
                <a:latin typeface="Arial" panose="020B0604020202020204" pitchFamily="34" charset="0"/>
                <a:cs typeface="Arial" panose="020B0604020202020204" pitchFamily="34" charset="0"/>
              </a:rPr>
              <a:t>supposed to act on behalf of ‘the people’ </a:t>
            </a:r>
          </a:p>
          <a:p>
            <a:r>
              <a:rPr lang="en-CA" sz="3200" b="1" dirty="0">
                <a:solidFill>
                  <a:schemeClr val="tx1">
                    <a:lumMod val="95000"/>
                    <a:lumOff val="5000"/>
                  </a:schemeClr>
                </a:solidFill>
                <a:latin typeface="Arial" panose="020B0604020202020204" pitchFamily="34" charset="0"/>
                <a:cs typeface="Arial" panose="020B0604020202020204" pitchFamily="34" charset="0"/>
              </a:rPr>
              <a:t>Law enforcement and peace keepers</a:t>
            </a:r>
          </a:p>
          <a:p>
            <a:r>
              <a:rPr lang="en-CA" sz="3200" b="1" dirty="0">
                <a:solidFill>
                  <a:schemeClr val="tx1">
                    <a:lumMod val="95000"/>
                    <a:lumOff val="5000"/>
                  </a:schemeClr>
                </a:solidFill>
                <a:latin typeface="Arial" panose="020B0604020202020204" pitchFamily="34" charset="0"/>
                <a:cs typeface="Arial" panose="020B0604020202020204" pitchFamily="34" charset="0"/>
              </a:rPr>
              <a:t>Maintaining of order: vagrancy, political disorder and riots, disorder and drunkenness </a:t>
            </a:r>
          </a:p>
          <a:p>
            <a:r>
              <a:rPr lang="en-CA" sz="3200" b="1" dirty="0">
                <a:solidFill>
                  <a:schemeClr val="tx1">
                    <a:lumMod val="95000"/>
                    <a:lumOff val="5000"/>
                  </a:schemeClr>
                </a:solidFill>
                <a:latin typeface="Arial" panose="020B0604020202020204" pitchFamily="34" charset="0"/>
                <a:cs typeface="Arial" panose="020B0604020202020204" pitchFamily="34" charset="0"/>
              </a:rPr>
              <a:t>Crime control in the name of public safety and security</a:t>
            </a:r>
          </a:p>
          <a:p>
            <a:endParaRPr lang="en-CA" sz="3200" b="1" dirty="0">
              <a:solidFill>
                <a:schemeClr val="tx1">
                  <a:lumMod val="95000"/>
                  <a:lumOff val="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979931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F8A59-8025-456C-B1D3-722837A6AD85}"/>
              </a:ext>
            </a:extLst>
          </p:cNvPr>
          <p:cNvSpPr>
            <a:spLocks noGrp="1"/>
          </p:cNvSpPr>
          <p:nvPr>
            <p:ph type="title"/>
          </p:nvPr>
        </p:nvSpPr>
        <p:spPr/>
        <p:txBody>
          <a:bodyPr>
            <a:normAutofit/>
          </a:bodyPr>
          <a:lstStyle/>
          <a:p>
            <a:pPr algn="ctr"/>
            <a:r>
              <a:rPr lang="en-US" b="1" dirty="0">
                <a:latin typeface="Arial" panose="020B0604020202020204" pitchFamily="34" charset="0"/>
                <a:cs typeface="Arial" panose="020B0604020202020204" pitchFamily="34" charset="0"/>
              </a:rPr>
              <a:t>Robert Peel (1788-1850)</a:t>
            </a:r>
            <a:endParaRPr lang="en-CA" dirty="0"/>
          </a:p>
        </p:txBody>
      </p:sp>
      <p:pic>
        <p:nvPicPr>
          <p:cNvPr id="5" name="Content Placeholder 4">
            <a:extLst>
              <a:ext uri="{FF2B5EF4-FFF2-40B4-BE49-F238E27FC236}">
                <a16:creationId xmlns:a16="http://schemas.microsoft.com/office/drawing/2014/main" id="{7FA728A0-92B9-45BE-99FB-9B9E8689AD3B}"/>
              </a:ext>
            </a:extLst>
          </p:cNvPr>
          <p:cNvPicPr>
            <a:picLocks noGrp="1" noChangeAspect="1"/>
          </p:cNvPicPr>
          <p:nvPr>
            <p:ph idx="1"/>
          </p:nvPr>
        </p:nvPicPr>
        <p:blipFill>
          <a:blip r:embed="rId2"/>
          <a:stretch>
            <a:fillRect/>
          </a:stretch>
        </p:blipFill>
        <p:spPr>
          <a:xfrm>
            <a:off x="4096139" y="2141538"/>
            <a:ext cx="3256383" cy="4259262"/>
          </a:xfrm>
        </p:spPr>
      </p:pic>
    </p:spTree>
    <p:extLst>
      <p:ext uri="{BB962C8B-B14F-4D97-AF65-F5344CB8AC3E}">
        <p14:creationId xmlns:p14="http://schemas.microsoft.com/office/powerpoint/2010/main" val="34703790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DA1A7-03B8-416B-9614-49339C3EBA91}"/>
              </a:ext>
            </a:extLst>
          </p:cNvPr>
          <p:cNvSpPr>
            <a:spLocks noGrp="1"/>
          </p:cNvSpPr>
          <p:nvPr>
            <p:ph type="title"/>
          </p:nvPr>
        </p:nvSpPr>
        <p:spPr/>
        <p:txBody>
          <a:bodyPr>
            <a:normAutofit/>
          </a:bodyPr>
          <a:lstStyle/>
          <a:p>
            <a:pPr algn="ctr"/>
            <a:r>
              <a:rPr lang="en-US" b="1" dirty="0">
                <a:latin typeface="Arial" panose="020B0604020202020204" pitchFamily="34" charset="0"/>
                <a:cs typeface="Arial" panose="020B0604020202020204" pitchFamily="34" charset="0"/>
              </a:rPr>
              <a:t>Robert Peel </a:t>
            </a:r>
            <a:endParaRPr lang="en-CA"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F43AC455-4240-4001-90B5-68CBA81E9D41}"/>
              </a:ext>
            </a:extLst>
          </p:cNvPr>
          <p:cNvSpPr>
            <a:spLocks noGrp="1"/>
          </p:cNvSpPr>
          <p:nvPr>
            <p:ph idx="1"/>
          </p:nvPr>
        </p:nvSpPr>
        <p:spPr/>
        <p:txBody>
          <a:bodyPr>
            <a:normAutofit/>
          </a:bodyPr>
          <a:lstStyle/>
          <a:p>
            <a:r>
              <a:rPr lang="en-US" sz="2800" b="1" dirty="0">
                <a:latin typeface="Arial" panose="020B0604020202020204" pitchFamily="34" charset="0"/>
                <a:cs typeface="Arial" panose="020B0604020202020204" pitchFamily="34" charset="0"/>
              </a:rPr>
              <a:t>The founder of modern professional policing in England reformed the British system in 1795 and 1808.</a:t>
            </a:r>
          </a:p>
          <a:p>
            <a:r>
              <a:rPr lang="en-US" sz="2800" b="1" dirty="0">
                <a:latin typeface="Arial" panose="020B0604020202020204" pitchFamily="34" charset="0"/>
                <a:cs typeface="Arial" panose="020B0604020202020204" pitchFamily="34" charset="0"/>
              </a:rPr>
              <a:t>He sponsored the first successful bill to create a professional police force in England</a:t>
            </a:r>
          </a:p>
          <a:p>
            <a:r>
              <a:rPr lang="en-US" sz="2800" b="1" dirty="0">
                <a:latin typeface="Arial" panose="020B0604020202020204" pitchFamily="34" charset="0"/>
                <a:cs typeface="Arial" panose="020B0604020202020204" pitchFamily="34" charset="0"/>
              </a:rPr>
              <a:t>The Metropolitan Police Act (1829)</a:t>
            </a:r>
            <a:endParaRPr lang="en-CA"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33240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6E3E5-2166-4535-8B7B-6A5385BCD9B2}"/>
              </a:ext>
            </a:extLst>
          </p:cNvPr>
          <p:cNvSpPr>
            <a:spLocks noGrp="1"/>
          </p:cNvSpPr>
          <p:nvPr>
            <p:ph type="title"/>
          </p:nvPr>
        </p:nvSpPr>
        <p:spPr/>
        <p:txBody>
          <a:bodyPr>
            <a:normAutofit/>
          </a:bodyPr>
          <a:lstStyle/>
          <a:p>
            <a:pPr algn="ctr"/>
            <a:r>
              <a:rPr lang="en-US" b="1" dirty="0">
                <a:latin typeface="Arial" panose="020B0604020202020204" pitchFamily="34" charset="0"/>
                <a:cs typeface="Arial" panose="020B0604020202020204" pitchFamily="34" charset="0"/>
              </a:rPr>
              <a:t>9 Principles of the Police Act</a:t>
            </a:r>
            <a:endParaRPr lang="en-CA"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F769920-DC3E-4B27-AC98-99644D74FFD0}"/>
              </a:ext>
            </a:extLst>
          </p:cNvPr>
          <p:cNvSpPr>
            <a:spLocks noGrp="1"/>
          </p:cNvSpPr>
          <p:nvPr>
            <p:ph idx="1"/>
          </p:nvPr>
        </p:nvSpPr>
        <p:spPr/>
        <p:txBody>
          <a:bodyPr>
            <a:normAutofit/>
          </a:bodyPr>
          <a:lstStyle/>
          <a:p>
            <a:r>
              <a:rPr lang="en-US" sz="2400" b="1" dirty="0">
                <a:latin typeface="Arial" panose="020B0604020202020204" pitchFamily="34" charset="0"/>
                <a:cs typeface="Arial" panose="020B0604020202020204" pitchFamily="34" charset="0"/>
              </a:rPr>
              <a:t>PRINCIPLE 1 “The basic mission for which the police exist is to prevent crime and disorder.”</a:t>
            </a:r>
          </a:p>
          <a:p>
            <a:r>
              <a:rPr lang="en-US" sz="2400" b="1" dirty="0">
                <a:latin typeface="Arial" panose="020B0604020202020204" pitchFamily="34" charset="0"/>
                <a:cs typeface="Arial" panose="020B0604020202020204" pitchFamily="34" charset="0"/>
              </a:rPr>
              <a:t>PRINCIPLE 2 “The ability of the police to perform their duties is dependent upon public approval of police actions.”</a:t>
            </a:r>
          </a:p>
          <a:p>
            <a:r>
              <a:rPr lang="en-US" sz="2400" b="1" dirty="0">
                <a:latin typeface="Arial" panose="020B0604020202020204" pitchFamily="34" charset="0"/>
                <a:cs typeface="Arial" panose="020B0604020202020204" pitchFamily="34" charset="0"/>
              </a:rPr>
              <a:t>PRINCIPLE 3 “Police must secure the willing cooperation of the public in voluntary observance of the law to be able to secure and maintain the respect of the public.”</a:t>
            </a:r>
          </a:p>
          <a:p>
            <a:endParaRPr lang="en-CA" dirty="0"/>
          </a:p>
        </p:txBody>
      </p:sp>
    </p:spTree>
    <p:extLst>
      <p:ext uri="{BB962C8B-B14F-4D97-AF65-F5344CB8AC3E}">
        <p14:creationId xmlns:p14="http://schemas.microsoft.com/office/powerpoint/2010/main" val="36657903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26B0F-FBB2-42E7-9338-4BEC25741469}"/>
              </a:ext>
            </a:extLst>
          </p:cNvPr>
          <p:cNvSpPr>
            <a:spLocks noGrp="1"/>
          </p:cNvSpPr>
          <p:nvPr>
            <p:ph type="title"/>
          </p:nvPr>
        </p:nvSpPr>
        <p:spPr/>
        <p:txBody>
          <a:bodyPr>
            <a:normAutofit/>
          </a:bodyPr>
          <a:lstStyle/>
          <a:p>
            <a:pPr algn="ctr"/>
            <a:r>
              <a:rPr lang="en-US" b="1" dirty="0">
                <a:latin typeface="Arial" panose="020B0604020202020204" pitchFamily="34" charset="0"/>
                <a:cs typeface="Arial" panose="020B0604020202020204" pitchFamily="34" charset="0"/>
              </a:rPr>
              <a:t>9 Principles</a:t>
            </a:r>
            <a:endParaRPr lang="en-CA" dirty="0"/>
          </a:p>
        </p:txBody>
      </p:sp>
      <p:sp>
        <p:nvSpPr>
          <p:cNvPr id="3" name="Content Placeholder 2">
            <a:extLst>
              <a:ext uri="{FF2B5EF4-FFF2-40B4-BE49-F238E27FC236}">
                <a16:creationId xmlns:a16="http://schemas.microsoft.com/office/drawing/2014/main" id="{FC0662DA-5AF6-4AC2-9715-09727694AD54}"/>
              </a:ext>
            </a:extLst>
          </p:cNvPr>
          <p:cNvSpPr>
            <a:spLocks noGrp="1"/>
          </p:cNvSpPr>
          <p:nvPr>
            <p:ph idx="1"/>
          </p:nvPr>
        </p:nvSpPr>
        <p:spPr/>
        <p:txBody>
          <a:bodyPr>
            <a:normAutofit fontScale="92500"/>
          </a:bodyPr>
          <a:lstStyle/>
          <a:p>
            <a:r>
              <a:rPr lang="en-US" sz="2400" b="1" dirty="0">
                <a:latin typeface="Arial" panose="020B0604020202020204" pitchFamily="34" charset="0"/>
                <a:cs typeface="Arial" panose="020B0604020202020204" pitchFamily="34" charset="0"/>
              </a:rPr>
              <a:t>PRINCIPLE 4 “The degree of cooperation of the public that can be secured diminishes proportionately to the necessity of the use of physical force.”</a:t>
            </a:r>
          </a:p>
          <a:p>
            <a:r>
              <a:rPr lang="en-US" sz="2400" b="1" dirty="0">
                <a:latin typeface="Arial" panose="020B0604020202020204" pitchFamily="34" charset="0"/>
                <a:cs typeface="Arial" panose="020B0604020202020204" pitchFamily="34" charset="0"/>
              </a:rPr>
              <a:t>PRINCIPLE 5 “Police seek and preserve public favor not by catering to the public opinion but by constantly demonstrating absolute impartial service to the law.”</a:t>
            </a:r>
          </a:p>
          <a:p>
            <a:r>
              <a:rPr lang="en-US" sz="2400" b="1" dirty="0">
                <a:latin typeface="Arial" panose="020B0604020202020204" pitchFamily="34" charset="0"/>
                <a:cs typeface="Arial" panose="020B0604020202020204" pitchFamily="34" charset="0"/>
              </a:rPr>
              <a:t>PRINCIPLE 6 “Police use physical force to the extent necessary to secure observance of the law or to restore order only when the exercise of persuasion, advice and warning is found to be insufficient.”</a:t>
            </a:r>
          </a:p>
          <a:p>
            <a:endParaRPr lang="en-CA" dirty="0"/>
          </a:p>
        </p:txBody>
      </p:sp>
    </p:spTree>
    <p:extLst>
      <p:ext uri="{BB962C8B-B14F-4D97-AF65-F5344CB8AC3E}">
        <p14:creationId xmlns:p14="http://schemas.microsoft.com/office/powerpoint/2010/main" val="9578076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D6C83-B311-4C14-AFA3-D61089787FE1}"/>
              </a:ext>
            </a:extLst>
          </p:cNvPr>
          <p:cNvSpPr>
            <a:spLocks noGrp="1"/>
          </p:cNvSpPr>
          <p:nvPr>
            <p:ph type="title"/>
          </p:nvPr>
        </p:nvSpPr>
        <p:spPr/>
        <p:txBody>
          <a:bodyPr>
            <a:normAutofit/>
          </a:bodyPr>
          <a:lstStyle/>
          <a:p>
            <a:pPr algn="ctr"/>
            <a:r>
              <a:rPr lang="en-US" b="1" dirty="0">
                <a:latin typeface="Arial" panose="020B0604020202020204" pitchFamily="34" charset="0"/>
                <a:cs typeface="Arial" panose="020B0604020202020204" pitchFamily="34" charset="0"/>
              </a:rPr>
              <a:t>9 Principles</a:t>
            </a:r>
            <a:endParaRPr lang="en-CA" dirty="0"/>
          </a:p>
        </p:txBody>
      </p:sp>
      <p:sp>
        <p:nvSpPr>
          <p:cNvPr id="3" name="Content Placeholder 2">
            <a:extLst>
              <a:ext uri="{FF2B5EF4-FFF2-40B4-BE49-F238E27FC236}">
                <a16:creationId xmlns:a16="http://schemas.microsoft.com/office/drawing/2014/main" id="{7337ED3D-10AC-4043-8DB9-A03EBC5B788A}"/>
              </a:ext>
            </a:extLst>
          </p:cNvPr>
          <p:cNvSpPr>
            <a:spLocks noGrp="1"/>
          </p:cNvSpPr>
          <p:nvPr>
            <p:ph idx="1"/>
          </p:nvPr>
        </p:nvSpPr>
        <p:spPr/>
        <p:txBody>
          <a:bodyPr/>
          <a:lstStyle/>
          <a:p>
            <a:r>
              <a:rPr lang="en-US" sz="2000" b="1" dirty="0">
                <a:latin typeface="Arial" panose="020B0604020202020204" pitchFamily="34" charset="0"/>
                <a:cs typeface="Arial" panose="020B0604020202020204" pitchFamily="34" charset="0"/>
              </a:rPr>
              <a:t>PRINCIPLE 7 “Police, at all times, should maintain a relationship with the public that gives reality to the historic tradition that the police are the public and the public are the police; the police being only members of the public who are paid to give full-time attention to duties which are incumbent on every citizen in the interests of community welfare and existence.”</a:t>
            </a:r>
          </a:p>
          <a:p>
            <a:r>
              <a:rPr lang="en-US" sz="2000" b="1" dirty="0">
                <a:latin typeface="Arial" panose="020B0604020202020204" pitchFamily="34" charset="0"/>
                <a:cs typeface="Arial" panose="020B0604020202020204" pitchFamily="34" charset="0"/>
              </a:rPr>
              <a:t>PRINCIPLE 8 “Police should always direct their action strictly towards their functions and never appear to usurp the powers of the judiciary.”</a:t>
            </a:r>
          </a:p>
          <a:p>
            <a:r>
              <a:rPr lang="en-US" sz="2000" b="1" dirty="0">
                <a:latin typeface="Arial" panose="020B0604020202020204" pitchFamily="34" charset="0"/>
                <a:cs typeface="Arial" panose="020B0604020202020204" pitchFamily="34" charset="0"/>
              </a:rPr>
              <a:t>PRINCIPLE 9 “The test of police efficiency is the absence of crime and disorder, not the visible evidence of police action in dealing with it.”</a:t>
            </a:r>
          </a:p>
          <a:p>
            <a:endParaRPr lang="en-CA" dirty="0"/>
          </a:p>
        </p:txBody>
      </p:sp>
    </p:spTree>
    <p:extLst>
      <p:ext uri="{BB962C8B-B14F-4D97-AF65-F5344CB8AC3E}">
        <p14:creationId xmlns:p14="http://schemas.microsoft.com/office/powerpoint/2010/main" val="25383056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A922C-C8D6-47CB-BD24-81E4965EB062}"/>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98021432-6275-4A7C-B926-270C614C9E01}"/>
              </a:ext>
            </a:extLst>
          </p:cNvPr>
          <p:cNvSpPr>
            <a:spLocks noGrp="1"/>
          </p:cNvSpPr>
          <p:nvPr>
            <p:ph idx="1"/>
          </p:nvPr>
        </p:nvSpPr>
        <p:spPr/>
        <p:txBody>
          <a:bodyPr>
            <a:normAutofit/>
          </a:bodyPr>
          <a:lstStyle/>
          <a:p>
            <a:pPr algn="ctr"/>
            <a:r>
              <a:rPr lang="en-CA" sz="3600" b="1" dirty="0">
                <a:latin typeface="Arial" panose="020B0604020202020204" pitchFamily="34" charset="0"/>
                <a:cs typeface="Arial" panose="020B0604020202020204" pitchFamily="34" charset="0"/>
              </a:rPr>
              <a:t>The Canadian Police Apparatus</a:t>
            </a:r>
            <a:r>
              <a:rPr lang="en-US" sz="3600" b="1" dirty="0">
                <a:latin typeface="Arial" panose="020B0604020202020204" pitchFamily="34" charset="0"/>
                <a:cs typeface="Arial" panose="020B0604020202020204" pitchFamily="34" charset="0"/>
              </a:rPr>
              <a:t> </a:t>
            </a:r>
            <a:br>
              <a:rPr lang="en-CA" sz="3600" b="1" dirty="0">
                <a:latin typeface="Arial" panose="020B0604020202020204" pitchFamily="34" charset="0"/>
                <a:cs typeface="Arial" panose="020B0604020202020204" pitchFamily="34" charset="0"/>
              </a:rPr>
            </a:br>
            <a:endParaRPr lang="en-CA" sz="3600" dirty="0"/>
          </a:p>
        </p:txBody>
      </p:sp>
    </p:spTree>
    <p:extLst>
      <p:ext uri="{BB962C8B-B14F-4D97-AF65-F5344CB8AC3E}">
        <p14:creationId xmlns:p14="http://schemas.microsoft.com/office/powerpoint/2010/main" val="7176308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2D419-60EF-45F5-B654-AF935B381E23}"/>
              </a:ext>
            </a:extLst>
          </p:cNvPr>
          <p:cNvSpPr>
            <a:spLocks noGrp="1"/>
          </p:cNvSpPr>
          <p:nvPr>
            <p:ph type="title"/>
          </p:nvPr>
        </p:nvSpPr>
        <p:spPr/>
        <p:txBody>
          <a:bodyPr>
            <a:normAutofit fontScale="90000"/>
          </a:bodyPr>
          <a:lstStyle/>
          <a:p>
            <a:pPr algn="ctr"/>
            <a:r>
              <a:rPr lang="en-CA" sz="4000" b="1" dirty="0">
                <a:latin typeface="Arial" panose="020B0604020202020204" pitchFamily="34" charset="0"/>
                <a:cs typeface="Arial" panose="020B0604020202020204" pitchFamily="34" charset="0"/>
              </a:rPr>
              <a:t>The Canadian Police Apparatus ( 17</a:t>
            </a:r>
            <a:r>
              <a:rPr lang="en-CA" sz="4000" b="1" baseline="30000" dirty="0">
                <a:latin typeface="Arial" panose="020B0604020202020204" pitchFamily="34" charset="0"/>
                <a:cs typeface="Arial" panose="020B0604020202020204" pitchFamily="34" charset="0"/>
              </a:rPr>
              <a:t>th</a:t>
            </a:r>
            <a:r>
              <a:rPr lang="en-CA" sz="4000" b="1" dirty="0">
                <a:latin typeface="Arial" panose="020B0604020202020204" pitchFamily="34" charset="0"/>
                <a:cs typeface="Arial" panose="020B0604020202020204" pitchFamily="34" charset="0"/>
              </a:rPr>
              <a:t>-18</a:t>
            </a:r>
            <a:r>
              <a:rPr lang="en-CA" sz="4000" b="1" baseline="30000" dirty="0">
                <a:latin typeface="Arial" panose="020B0604020202020204" pitchFamily="34" charset="0"/>
                <a:cs typeface="Arial" panose="020B0604020202020204" pitchFamily="34" charset="0"/>
              </a:rPr>
              <a:t>th</a:t>
            </a:r>
            <a:r>
              <a:rPr lang="en-CA" sz="4000" b="1" dirty="0">
                <a:latin typeface="Arial" panose="020B0604020202020204" pitchFamily="34" charset="0"/>
                <a:cs typeface="Arial" panose="020B0604020202020204" pitchFamily="34" charset="0"/>
              </a:rPr>
              <a:t> century)</a:t>
            </a:r>
            <a:r>
              <a:rPr lang="en-US" sz="4000" b="1" dirty="0">
                <a:latin typeface="Arial" panose="020B0604020202020204" pitchFamily="34" charset="0"/>
                <a:cs typeface="Arial" panose="020B0604020202020204" pitchFamily="34" charset="0"/>
              </a:rPr>
              <a:t> </a:t>
            </a:r>
            <a:br>
              <a:rPr lang="en-CA" sz="3200" b="1" dirty="0">
                <a:latin typeface="Arial" panose="020B0604020202020204" pitchFamily="34" charset="0"/>
                <a:cs typeface="Arial" panose="020B0604020202020204" pitchFamily="34" charset="0"/>
              </a:rPr>
            </a:br>
            <a:endParaRPr lang="en-CA" sz="32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834A18CD-7131-4E3C-BADB-A55D7FE8519B}"/>
              </a:ext>
            </a:extLst>
          </p:cNvPr>
          <p:cNvSpPr>
            <a:spLocks noGrp="1"/>
          </p:cNvSpPr>
          <p:nvPr>
            <p:ph idx="1"/>
          </p:nvPr>
        </p:nvSpPr>
        <p:spPr/>
        <p:txBody>
          <a:bodyPr>
            <a:normAutofit/>
          </a:bodyPr>
          <a:lstStyle/>
          <a:p>
            <a:r>
              <a:rPr lang="en-US" sz="2400" b="1" dirty="0">
                <a:latin typeface="Arial" panose="020B0604020202020204" pitchFamily="34" charset="0"/>
                <a:cs typeface="Arial" panose="020B0604020202020204" pitchFamily="34" charset="0"/>
              </a:rPr>
              <a:t>Can be traced to British and French colonialization </a:t>
            </a:r>
          </a:p>
          <a:p>
            <a:r>
              <a:rPr lang="en-US" sz="2400" b="1" dirty="0">
                <a:latin typeface="Arial" panose="020B0604020202020204" pitchFamily="34" charset="0"/>
                <a:cs typeface="Arial" panose="020B0604020202020204" pitchFamily="34" charset="0"/>
              </a:rPr>
              <a:t>Quebec city followed early French models of policing and their watchman system of 1651</a:t>
            </a:r>
          </a:p>
          <a:p>
            <a:r>
              <a:rPr lang="en-US" sz="2400" b="1" dirty="0">
                <a:latin typeface="Arial" panose="020B0604020202020204" pitchFamily="34" charset="0"/>
                <a:cs typeface="Arial" panose="020B0604020202020204" pitchFamily="34" charset="0"/>
              </a:rPr>
              <a:t>Upper Canada later Ontario followed the British hybrid system constabulary and stipendiary system</a:t>
            </a:r>
          </a:p>
          <a:p>
            <a:r>
              <a:rPr lang="en-US" sz="2400" b="1" dirty="0">
                <a:latin typeface="Arial" panose="020B0604020202020204" pitchFamily="34" charset="0"/>
                <a:cs typeface="Arial" panose="020B0604020202020204" pitchFamily="34" charset="0"/>
              </a:rPr>
              <a:t>In 1759 the British colonizers imposed the British system on French colonial territories </a:t>
            </a:r>
          </a:p>
        </p:txBody>
      </p:sp>
    </p:spTree>
    <p:extLst>
      <p:ext uri="{BB962C8B-B14F-4D97-AF65-F5344CB8AC3E}">
        <p14:creationId xmlns:p14="http://schemas.microsoft.com/office/powerpoint/2010/main" val="4998325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CB1AB-4814-493C-BB52-28905AA5EDA1}"/>
              </a:ext>
            </a:extLst>
          </p:cNvPr>
          <p:cNvSpPr>
            <a:spLocks noGrp="1"/>
          </p:cNvSpPr>
          <p:nvPr>
            <p:ph type="title"/>
          </p:nvPr>
        </p:nvSpPr>
        <p:spPr/>
        <p:txBody>
          <a:bodyPr>
            <a:normAutofit/>
          </a:bodyPr>
          <a:lstStyle/>
          <a:p>
            <a:pPr algn="ctr"/>
            <a:r>
              <a:rPr lang="en-US" b="1" dirty="0">
                <a:latin typeface="Arial" panose="020B0604020202020204" pitchFamily="34" charset="0"/>
                <a:cs typeface="Arial" panose="020B0604020202020204" pitchFamily="34" charset="0"/>
              </a:rPr>
              <a:t>Canadian Constable 1880s</a:t>
            </a:r>
            <a:endParaRPr lang="en-CA" b="1" dirty="0">
              <a:latin typeface="Arial" panose="020B0604020202020204" pitchFamily="34" charset="0"/>
              <a:cs typeface="Arial" panose="020B0604020202020204" pitchFamily="34" charset="0"/>
            </a:endParaRPr>
          </a:p>
        </p:txBody>
      </p:sp>
      <p:pic>
        <p:nvPicPr>
          <p:cNvPr id="5" name="Content Placeholder 4" descr="Canadian North West Mounted Police (NWMP - aka 'Mounties') Constable -  1880's | Polizei">
            <a:extLst>
              <a:ext uri="{FF2B5EF4-FFF2-40B4-BE49-F238E27FC236}">
                <a16:creationId xmlns:a16="http://schemas.microsoft.com/office/drawing/2014/main" id="{AEADADC0-281E-432F-933E-A7D40A0AF0C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340359" y="2612571"/>
            <a:ext cx="4795935" cy="3256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30050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61E76-CE17-4F73-8559-E4BA04A6DEAB}"/>
              </a:ext>
            </a:extLst>
          </p:cNvPr>
          <p:cNvSpPr>
            <a:spLocks noGrp="1"/>
          </p:cNvSpPr>
          <p:nvPr>
            <p:ph type="title"/>
          </p:nvPr>
        </p:nvSpPr>
        <p:spPr/>
        <p:txBody>
          <a:bodyPr>
            <a:normAutofit/>
          </a:bodyPr>
          <a:lstStyle/>
          <a:p>
            <a:pPr algn="ctr"/>
            <a:r>
              <a:rPr lang="en-US" b="1" dirty="0">
                <a:latin typeface="Arial" panose="020B0604020202020204" pitchFamily="34" charset="0"/>
                <a:cs typeface="Arial" panose="020B0604020202020204" pitchFamily="34" charset="0"/>
              </a:rPr>
              <a:t>North West Mounted Police 1900</a:t>
            </a:r>
            <a:endParaRPr lang="en-CA" b="1" dirty="0">
              <a:latin typeface="Arial" panose="020B0604020202020204" pitchFamily="34" charset="0"/>
              <a:cs typeface="Arial" panose="020B0604020202020204" pitchFamily="34" charset="0"/>
            </a:endParaRPr>
          </a:p>
        </p:txBody>
      </p:sp>
      <p:pic>
        <p:nvPicPr>
          <p:cNvPr id="5" name="Picture 2" descr="North-West Mounted Police in the Canadian north - Wikipedia">
            <a:extLst>
              <a:ext uri="{FF2B5EF4-FFF2-40B4-BE49-F238E27FC236}">
                <a16:creationId xmlns:a16="http://schemas.microsoft.com/office/drawing/2014/main" id="{3EA57AEA-1529-4B02-88D8-E7D44C8AFFD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76465" y="2491274"/>
            <a:ext cx="6335486" cy="34803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54763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CA" sz="3200" b="1" dirty="0">
                <a:latin typeface="Arial" panose="020B0604020202020204" pitchFamily="34" charset="0"/>
                <a:cs typeface="Arial" panose="020B0604020202020204" pitchFamily="34" charset="0"/>
              </a:rPr>
              <a:t>The Canadian Police Apparatus</a:t>
            </a:r>
          </a:p>
        </p:txBody>
      </p:sp>
      <p:sp>
        <p:nvSpPr>
          <p:cNvPr id="3" name="Content Placeholder 2"/>
          <p:cNvSpPr>
            <a:spLocks noGrp="1"/>
          </p:cNvSpPr>
          <p:nvPr>
            <p:ph idx="1"/>
          </p:nvPr>
        </p:nvSpPr>
        <p:spPr/>
        <p:txBody>
          <a:bodyPr>
            <a:noAutofit/>
          </a:bodyPr>
          <a:lstStyle/>
          <a:p>
            <a:r>
              <a:rPr lang="en-CA" sz="2400" b="1" dirty="0">
                <a:latin typeface="Arial" panose="020B0604020202020204" pitchFamily="34" charset="0"/>
                <a:cs typeface="Arial" panose="020B0604020202020204" pitchFamily="34" charset="0"/>
              </a:rPr>
              <a:t>Based on the British system:</a:t>
            </a:r>
          </a:p>
          <a:p>
            <a:r>
              <a:rPr lang="en-CA" sz="2400" b="1" dirty="0">
                <a:latin typeface="Arial" panose="020B0604020202020204" pitchFamily="34" charset="0"/>
                <a:cs typeface="Arial" panose="020B0604020202020204" pitchFamily="34" charset="0"/>
              </a:rPr>
              <a:t>“In </a:t>
            </a:r>
            <a:r>
              <a:rPr lang="en-CA" sz="2400" b="1" dirty="0">
                <a:latin typeface="Arial" panose="020B0604020202020204" pitchFamily="34" charset="0"/>
                <a:cs typeface="Arial" panose="020B0604020202020204" pitchFamily="34" charset="0"/>
                <a:hlinkClick r:id="rId2" tooltip="Canada"/>
              </a:rPr>
              <a:t>Canada</a:t>
            </a:r>
            <a:r>
              <a:rPr lang="en-CA" sz="2400" b="1" dirty="0">
                <a:latin typeface="Arial" panose="020B0604020202020204" pitchFamily="34" charset="0"/>
                <a:cs typeface="Arial" panose="020B0604020202020204" pitchFamily="34" charset="0"/>
              </a:rPr>
              <a:t>, the </a:t>
            </a:r>
            <a:r>
              <a:rPr lang="en-CA" sz="2400" b="1" dirty="0">
                <a:latin typeface="Arial" panose="020B0604020202020204" pitchFamily="34" charset="0"/>
                <a:cs typeface="Arial" panose="020B0604020202020204" pitchFamily="34" charset="0"/>
                <a:hlinkClick r:id="rId3" tooltip="Royal Newfoundland Constabulary"/>
              </a:rPr>
              <a:t>Royal Newfoundland Constabulary</a:t>
            </a:r>
            <a:r>
              <a:rPr lang="en-CA" sz="2400" b="1" dirty="0">
                <a:latin typeface="Arial" panose="020B0604020202020204" pitchFamily="34" charset="0"/>
                <a:cs typeface="Arial" panose="020B0604020202020204" pitchFamily="34" charset="0"/>
              </a:rPr>
              <a:t> was founded in 1729, making it the first police force in present-day Canada. It was followed in 1834 by the </a:t>
            </a:r>
            <a:r>
              <a:rPr lang="en-CA" sz="2400" b="1" dirty="0">
                <a:latin typeface="Arial" panose="020B0604020202020204" pitchFamily="34" charset="0"/>
                <a:cs typeface="Arial" panose="020B0604020202020204" pitchFamily="34" charset="0"/>
                <a:hlinkClick r:id="rId4" tooltip="Toronto Police"/>
              </a:rPr>
              <a:t>Toronto Police</a:t>
            </a:r>
            <a:r>
              <a:rPr lang="en-CA" sz="2400" b="1" dirty="0">
                <a:latin typeface="Arial" panose="020B0604020202020204" pitchFamily="34" charset="0"/>
                <a:cs typeface="Arial" panose="020B0604020202020204" pitchFamily="34" charset="0"/>
              </a:rPr>
              <a:t>, and in 1838 by police forces in </a:t>
            </a:r>
            <a:r>
              <a:rPr lang="en-CA" sz="2400" b="1" dirty="0">
                <a:latin typeface="Arial" panose="020B0604020202020204" pitchFamily="34" charset="0"/>
                <a:cs typeface="Arial" panose="020B0604020202020204" pitchFamily="34" charset="0"/>
                <a:hlinkClick r:id="rId5" tooltip="Montreal"/>
              </a:rPr>
              <a:t>Montreal</a:t>
            </a:r>
            <a:r>
              <a:rPr lang="en-CA" sz="2400" b="1" dirty="0">
                <a:latin typeface="Arial" panose="020B0604020202020204" pitchFamily="34" charset="0"/>
                <a:cs typeface="Arial" panose="020B0604020202020204" pitchFamily="34" charset="0"/>
              </a:rPr>
              <a:t> and </a:t>
            </a:r>
            <a:r>
              <a:rPr lang="en-CA" sz="2400" b="1" dirty="0">
                <a:latin typeface="Arial" panose="020B0604020202020204" pitchFamily="34" charset="0"/>
                <a:cs typeface="Arial" panose="020B0604020202020204" pitchFamily="34" charset="0"/>
                <a:hlinkClick r:id="rId6" tooltip="Quebec City"/>
              </a:rPr>
              <a:t>Quebec City</a:t>
            </a:r>
            <a:r>
              <a:rPr lang="en-CA" sz="2400" b="1" dirty="0">
                <a:latin typeface="Arial" panose="020B0604020202020204" pitchFamily="34" charset="0"/>
                <a:cs typeface="Arial" panose="020B0604020202020204" pitchFamily="34" charset="0"/>
              </a:rPr>
              <a:t>. A national force, the </a:t>
            </a:r>
            <a:r>
              <a:rPr lang="en-CA" sz="2400" b="1" dirty="0">
                <a:latin typeface="Arial" panose="020B0604020202020204" pitchFamily="34" charset="0"/>
                <a:cs typeface="Arial" panose="020B0604020202020204" pitchFamily="34" charset="0"/>
                <a:hlinkClick r:id="rId7" tooltip="Dominion Police"/>
              </a:rPr>
              <a:t>Dominion Police</a:t>
            </a:r>
            <a:r>
              <a:rPr lang="en-CA" sz="2400" b="1" dirty="0">
                <a:latin typeface="Arial" panose="020B0604020202020204" pitchFamily="34" charset="0"/>
                <a:cs typeface="Arial" panose="020B0604020202020204" pitchFamily="34" charset="0"/>
              </a:rPr>
              <a:t>, was founded in 1868. Initially the Dominion Police provided security for parliament, but its responsibilities quickly grew. The famous </a:t>
            </a:r>
            <a:r>
              <a:rPr lang="en-CA" sz="2400" b="1" dirty="0">
                <a:latin typeface="Arial" panose="020B0604020202020204" pitchFamily="34" charset="0"/>
                <a:cs typeface="Arial" panose="020B0604020202020204" pitchFamily="34" charset="0"/>
                <a:hlinkClick r:id="rId8" tooltip="Royal Northwest Mounted Police"/>
              </a:rPr>
              <a:t>Royal Northwest Mounted Police</a:t>
            </a:r>
            <a:r>
              <a:rPr lang="en-CA" sz="2400" b="1" dirty="0">
                <a:latin typeface="Arial" panose="020B0604020202020204" pitchFamily="34" charset="0"/>
                <a:cs typeface="Arial" panose="020B0604020202020204" pitchFamily="34" charset="0"/>
              </a:rPr>
              <a:t> was founded in 1873. The merger of these two police forces in 1920 formed the world-famous </a:t>
            </a:r>
            <a:r>
              <a:rPr lang="en-CA" sz="2400" b="1" dirty="0">
                <a:latin typeface="Arial" panose="020B0604020202020204" pitchFamily="34" charset="0"/>
                <a:cs typeface="Arial" panose="020B0604020202020204" pitchFamily="34" charset="0"/>
                <a:hlinkClick r:id="rId9" tooltip="Royal Canadian Mounted Police"/>
              </a:rPr>
              <a:t>Royal Canadian Mounted Police</a:t>
            </a:r>
            <a:r>
              <a:rPr lang="en-CA" sz="2400" b="1" dirty="0">
                <a:latin typeface="Arial" panose="020B0604020202020204" pitchFamily="34" charset="0"/>
                <a:cs typeface="Arial" panose="020B0604020202020204" pitchFamily="34" charset="0"/>
              </a:rPr>
              <a:t>”. Wikipedia</a:t>
            </a:r>
          </a:p>
        </p:txBody>
      </p:sp>
    </p:spTree>
    <p:extLst>
      <p:ext uri="{BB962C8B-B14F-4D97-AF65-F5344CB8AC3E}">
        <p14:creationId xmlns:p14="http://schemas.microsoft.com/office/powerpoint/2010/main" val="6986590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CA" b="1" dirty="0">
                <a:latin typeface="Arial" panose="020B0604020202020204" pitchFamily="34" charset="0"/>
                <a:cs typeface="Arial" panose="020B0604020202020204" pitchFamily="34" charset="0"/>
              </a:rPr>
              <a:t>The Canadian Police Apparatus (18 and 19</a:t>
            </a:r>
            <a:r>
              <a:rPr lang="en-CA" b="1" baseline="30000" dirty="0">
                <a:latin typeface="Arial" panose="020B0604020202020204" pitchFamily="34" charset="0"/>
                <a:cs typeface="Arial" panose="020B0604020202020204" pitchFamily="34" charset="0"/>
              </a:rPr>
              <a:t>th</a:t>
            </a:r>
            <a:r>
              <a:rPr lang="en-CA" b="1" dirty="0">
                <a:latin typeface="Arial" panose="020B0604020202020204" pitchFamily="34" charset="0"/>
                <a:cs typeface="Arial" panose="020B0604020202020204" pitchFamily="34" charset="0"/>
              </a:rPr>
              <a:t> century)</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r>
              <a:rPr lang="en-CA" sz="2000" b="1" u="sng" dirty="0">
                <a:solidFill>
                  <a:schemeClr val="tx1"/>
                </a:solidFill>
                <a:latin typeface="Arial" panose="020B0604020202020204" pitchFamily="34" charset="0"/>
                <a:cs typeface="Arial" panose="020B0604020202020204" pitchFamily="34" charset="0"/>
              </a:rPr>
              <a:t>18</a:t>
            </a:r>
            <a:r>
              <a:rPr lang="en-CA" sz="2000" b="1" u="sng" baseline="30000" dirty="0">
                <a:solidFill>
                  <a:schemeClr val="tx1"/>
                </a:solidFill>
                <a:latin typeface="Arial" panose="020B0604020202020204" pitchFamily="34" charset="0"/>
                <a:cs typeface="Arial" panose="020B0604020202020204" pitchFamily="34" charset="0"/>
              </a:rPr>
              <a:t>th</a:t>
            </a:r>
            <a:r>
              <a:rPr lang="en-CA" sz="2000" b="1" u="sng" dirty="0">
                <a:solidFill>
                  <a:schemeClr val="tx1"/>
                </a:solidFill>
                <a:latin typeface="Arial" panose="020B0604020202020204" pitchFamily="34" charset="0"/>
                <a:cs typeface="Arial" panose="020B0604020202020204" pitchFamily="34" charset="0"/>
              </a:rPr>
              <a:t> century</a:t>
            </a:r>
          </a:p>
          <a:p>
            <a:r>
              <a:rPr lang="en-CA" sz="2000" b="1" dirty="0">
                <a:solidFill>
                  <a:schemeClr val="tx1"/>
                </a:solidFill>
                <a:latin typeface="Arial" panose="020B0604020202020204" pitchFamily="34" charset="0"/>
                <a:cs typeface="Arial" panose="020B0604020202020204" pitchFamily="34" charset="0"/>
              </a:rPr>
              <a:t>England: Constable</a:t>
            </a:r>
          </a:p>
          <a:p>
            <a:r>
              <a:rPr lang="en-CA" sz="2000" b="1" dirty="0">
                <a:solidFill>
                  <a:schemeClr val="tx1"/>
                </a:solidFill>
                <a:latin typeface="Arial" panose="020B0604020202020204" pitchFamily="34" charset="0"/>
                <a:cs typeface="Arial" panose="020B0604020202020204" pitchFamily="34" charset="0"/>
              </a:rPr>
              <a:t>Colonized societies: strong police apparatus</a:t>
            </a:r>
          </a:p>
          <a:p>
            <a:r>
              <a:rPr lang="en-CA" sz="2000" b="1" dirty="0">
                <a:latin typeface="Arial" panose="020B0604020202020204" pitchFamily="34" charset="0"/>
                <a:cs typeface="Arial" panose="020B0604020202020204" pitchFamily="34" charset="0"/>
              </a:rPr>
              <a:t>E.g. Remove “Indians” from land, safety for white settlers </a:t>
            </a:r>
            <a:endParaRPr lang="en-CA" sz="2000" b="1" dirty="0">
              <a:solidFill>
                <a:schemeClr val="tx1"/>
              </a:solidFill>
              <a:latin typeface="Arial" panose="020B0604020202020204" pitchFamily="34" charset="0"/>
              <a:cs typeface="Arial" panose="020B0604020202020204" pitchFamily="34" charset="0"/>
            </a:endParaRPr>
          </a:p>
          <a:p>
            <a:r>
              <a:rPr lang="en-CA" sz="2000" b="1" u="sng" dirty="0">
                <a:solidFill>
                  <a:schemeClr val="tx1"/>
                </a:solidFill>
                <a:latin typeface="Arial" panose="020B0604020202020204" pitchFamily="34" charset="0"/>
                <a:cs typeface="Arial" panose="020B0604020202020204" pitchFamily="34" charset="0"/>
              </a:rPr>
              <a:t>19</a:t>
            </a:r>
            <a:r>
              <a:rPr lang="en-CA" sz="2000" b="1" u="sng" baseline="30000" dirty="0">
                <a:solidFill>
                  <a:schemeClr val="tx1"/>
                </a:solidFill>
                <a:latin typeface="Arial" panose="020B0604020202020204" pitchFamily="34" charset="0"/>
                <a:cs typeface="Arial" panose="020B0604020202020204" pitchFamily="34" charset="0"/>
              </a:rPr>
              <a:t>th</a:t>
            </a:r>
            <a:r>
              <a:rPr lang="en-CA" sz="2000" b="1" u="sng" dirty="0">
                <a:solidFill>
                  <a:schemeClr val="tx1"/>
                </a:solidFill>
                <a:latin typeface="Arial" panose="020B0604020202020204" pitchFamily="34" charset="0"/>
                <a:cs typeface="Arial" panose="020B0604020202020204" pitchFamily="34" charset="0"/>
              </a:rPr>
              <a:t> century: Industrial Revolution</a:t>
            </a:r>
          </a:p>
          <a:p>
            <a:r>
              <a:rPr lang="en-CA" sz="2000" b="1" dirty="0">
                <a:solidFill>
                  <a:schemeClr val="tx1"/>
                </a:solidFill>
                <a:latin typeface="Arial" panose="020B0604020202020204" pitchFamily="34" charset="0"/>
                <a:cs typeface="Arial" panose="020B0604020202020204" pitchFamily="34" charset="0"/>
              </a:rPr>
              <a:t> State more and more stepped in on acting on behalf of society/individuals</a:t>
            </a:r>
          </a:p>
          <a:p>
            <a:r>
              <a:rPr lang="en-CA" sz="2000" b="1" dirty="0">
                <a:solidFill>
                  <a:schemeClr val="tx1"/>
                </a:solidFill>
                <a:latin typeface="Arial" panose="020B0604020202020204" pitchFamily="34" charset="0"/>
                <a:cs typeface="Arial" panose="020B0604020202020204" pitchFamily="34" charset="0"/>
              </a:rPr>
              <a:t>Hiring more official police officers and started structural organization</a:t>
            </a:r>
          </a:p>
          <a:p>
            <a:r>
              <a:rPr lang="en-CA" sz="2000" b="1" dirty="0">
                <a:latin typeface="Arial" panose="020B0604020202020204" pitchFamily="34" charset="0"/>
                <a:cs typeface="Arial" panose="020B0604020202020204" pitchFamily="34" charset="0"/>
              </a:rPr>
              <a:t>To control civil unrest and riots calling for better working and living conditions</a:t>
            </a:r>
            <a:endParaRPr lang="en-CA" sz="2000" b="1" dirty="0">
              <a:solidFill>
                <a:schemeClr val="tx1"/>
              </a:solidFill>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28121293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CA" b="1" dirty="0">
                <a:latin typeface="Arial" panose="020B0604020202020204" pitchFamily="34" charset="0"/>
                <a:cs typeface="Arial" panose="020B0604020202020204" pitchFamily="34" charset="0"/>
              </a:rPr>
              <a:t>Canada Historical Overview </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r>
              <a:rPr lang="en-CA" sz="2400" b="1" u="sng" dirty="0">
                <a:solidFill>
                  <a:schemeClr val="tx1"/>
                </a:solidFill>
                <a:latin typeface="Arial" panose="020B0604020202020204" pitchFamily="34" charset="0"/>
                <a:cs typeface="Arial" panose="020B0604020202020204" pitchFamily="34" charset="0"/>
              </a:rPr>
              <a:t>19</a:t>
            </a:r>
            <a:r>
              <a:rPr lang="en-CA" sz="2400" b="1" u="sng" baseline="30000" dirty="0">
                <a:solidFill>
                  <a:schemeClr val="tx1"/>
                </a:solidFill>
                <a:latin typeface="Arial" panose="020B0604020202020204" pitchFamily="34" charset="0"/>
                <a:cs typeface="Arial" panose="020B0604020202020204" pitchFamily="34" charset="0"/>
              </a:rPr>
              <a:t>th</a:t>
            </a:r>
            <a:r>
              <a:rPr lang="en-CA" sz="2400" b="1" u="sng" dirty="0">
                <a:solidFill>
                  <a:schemeClr val="tx1"/>
                </a:solidFill>
                <a:latin typeface="Arial" panose="020B0604020202020204" pitchFamily="34" charset="0"/>
                <a:cs typeface="Arial" panose="020B0604020202020204" pitchFamily="34" charset="0"/>
              </a:rPr>
              <a:t> century</a:t>
            </a:r>
          </a:p>
          <a:p>
            <a:r>
              <a:rPr lang="en-CA" sz="2400" b="1" dirty="0">
                <a:solidFill>
                  <a:schemeClr val="tx1"/>
                </a:solidFill>
                <a:latin typeface="Arial" panose="020B0604020202020204" pitchFamily="34" charset="0"/>
                <a:cs typeface="Arial" panose="020B0604020202020204" pitchFamily="34" charset="0"/>
              </a:rPr>
              <a:t>Early municipal police forces</a:t>
            </a:r>
          </a:p>
          <a:p>
            <a:r>
              <a:rPr lang="en-CA" sz="2400" b="1" dirty="0">
                <a:solidFill>
                  <a:schemeClr val="tx1"/>
                </a:solidFill>
                <a:latin typeface="Arial" panose="020B0604020202020204" pitchFamily="34" charset="0"/>
                <a:cs typeface="Arial" panose="020B0604020202020204" pitchFamily="34" charset="0"/>
              </a:rPr>
              <a:t>Police conflicts</a:t>
            </a:r>
          </a:p>
          <a:p>
            <a:r>
              <a:rPr lang="en-CA" sz="2400" b="1" dirty="0">
                <a:solidFill>
                  <a:schemeClr val="tx1"/>
                </a:solidFill>
                <a:latin typeface="Arial" panose="020B0604020202020204" pitchFamily="34" charset="0"/>
                <a:cs typeface="Arial" panose="020B0604020202020204" pitchFamily="34" charset="0"/>
              </a:rPr>
              <a:t>Maintain moral standards</a:t>
            </a:r>
          </a:p>
          <a:p>
            <a:r>
              <a:rPr lang="en-CA" sz="2400" b="1" dirty="0">
                <a:solidFill>
                  <a:schemeClr val="tx1"/>
                </a:solidFill>
                <a:latin typeface="Arial" panose="020B0604020202020204" pitchFamily="34" charset="0"/>
                <a:cs typeface="Arial" panose="020B0604020202020204" pitchFamily="34" charset="0"/>
              </a:rPr>
              <a:t>Search apprehend criminal </a:t>
            </a:r>
          </a:p>
          <a:p>
            <a:r>
              <a:rPr lang="en-CA" sz="2400" b="1" dirty="0">
                <a:solidFill>
                  <a:schemeClr val="tx1"/>
                </a:solidFill>
                <a:latin typeface="Arial" panose="020B0604020202020204" pitchFamily="34" charset="0"/>
                <a:cs typeface="Arial" panose="020B0604020202020204" pitchFamily="34" charset="0"/>
              </a:rPr>
              <a:t>Establish and maintaining Canada as a white settler society</a:t>
            </a:r>
            <a:endParaRPr lang="en-US" sz="24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73330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CA" sz="3200" b="1" dirty="0">
                <a:latin typeface="Arial" panose="020B0604020202020204" pitchFamily="34" charset="0"/>
                <a:cs typeface="Arial" panose="020B0604020202020204" pitchFamily="34" charset="0"/>
              </a:rPr>
              <a:t>Canada: White Settler Colonial State</a:t>
            </a:r>
          </a:p>
        </p:txBody>
      </p:sp>
      <p:sp>
        <p:nvSpPr>
          <p:cNvPr id="3" name="Content Placeholder 2"/>
          <p:cNvSpPr>
            <a:spLocks noGrp="1"/>
          </p:cNvSpPr>
          <p:nvPr>
            <p:ph idx="1"/>
          </p:nvPr>
        </p:nvSpPr>
        <p:spPr/>
        <p:txBody>
          <a:bodyPr>
            <a:normAutofit/>
          </a:bodyPr>
          <a:lstStyle/>
          <a:p>
            <a:r>
              <a:rPr lang="en-CA" b="1" dirty="0">
                <a:solidFill>
                  <a:schemeClr val="tx1"/>
                </a:solidFill>
                <a:latin typeface="Arial" panose="020B0604020202020204" pitchFamily="34" charset="0"/>
                <a:cs typeface="Arial" panose="020B0604020202020204" pitchFamily="34" charset="0"/>
              </a:rPr>
              <a:t>Definition of White Settler Colonialism: Razack (2002, 1-2)</a:t>
            </a:r>
          </a:p>
          <a:p>
            <a:r>
              <a:rPr lang="en-CA" sz="2000" b="1" dirty="0">
                <a:solidFill>
                  <a:schemeClr val="tx1"/>
                </a:solidFill>
                <a:latin typeface="Arial" panose="020B0604020202020204" pitchFamily="34" charset="0"/>
                <a:cs typeface="Arial" panose="020B0604020202020204" pitchFamily="34" charset="0"/>
              </a:rPr>
              <a:t>“A white settler society is one established by Europeans on non-European soil. Its origins lie in the dispossession and near extermination of Indigenous populations by conquering Europeans. As it evolves, a white settler society continues to be structured by a racial hierarchy. In the national mythologies of such societies, it is</a:t>
            </a:r>
            <a:r>
              <a:rPr lang="en-CA" sz="2000" b="1" dirty="0">
                <a:solidFill>
                  <a:srgbClr val="FF0000"/>
                </a:solidFill>
                <a:latin typeface="Arial" panose="020B0604020202020204" pitchFamily="34" charset="0"/>
                <a:cs typeface="Arial" panose="020B0604020202020204" pitchFamily="34" charset="0"/>
              </a:rPr>
              <a:t> </a:t>
            </a:r>
            <a:r>
              <a:rPr lang="en-CA" sz="2000" b="1" dirty="0">
                <a:solidFill>
                  <a:schemeClr val="tx1"/>
                </a:solidFill>
                <a:latin typeface="Arial" panose="020B0604020202020204" pitchFamily="34" charset="0"/>
                <a:cs typeface="Arial" panose="020B0604020202020204" pitchFamily="34" charset="0"/>
              </a:rPr>
              <a:t>believed that white people came first and that it is they who principally developed the land; Aboriginal peoples are presumed to be mostly dead or assimilated. European settlers thus </a:t>
            </a:r>
            <a:r>
              <a:rPr lang="en-CA" sz="2000" b="1" i="1" dirty="0">
                <a:solidFill>
                  <a:schemeClr val="tx1"/>
                </a:solidFill>
                <a:latin typeface="Arial" panose="020B0604020202020204" pitchFamily="34" charset="0"/>
                <a:cs typeface="Arial" panose="020B0604020202020204" pitchFamily="34" charset="0"/>
              </a:rPr>
              <a:t>become </a:t>
            </a:r>
            <a:r>
              <a:rPr lang="en-CA" sz="2000" b="1" dirty="0">
                <a:solidFill>
                  <a:schemeClr val="tx1"/>
                </a:solidFill>
                <a:latin typeface="Arial" panose="020B0604020202020204" pitchFamily="34" charset="0"/>
                <a:cs typeface="Arial" panose="020B0604020202020204" pitchFamily="34" charset="0"/>
              </a:rPr>
              <a:t>the original inhabitants and the group most entitled to the fruits of citizenship. A quintessential feature of white settler mythologies is, therefore, the disavowal of conquest, genocide, slavery, and the exploitation of the labour of peoples of colour”.</a:t>
            </a:r>
          </a:p>
        </p:txBody>
      </p:sp>
    </p:spTree>
    <p:extLst>
      <p:ext uri="{BB962C8B-B14F-4D97-AF65-F5344CB8AC3E}">
        <p14:creationId xmlns:p14="http://schemas.microsoft.com/office/powerpoint/2010/main" val="29785477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CA" sz="3200" b="1" dirty="0">
                <a:latin typeface="Arial" panose="020B0604020202020204" pitchFamily="34" charset="0"/>
                <a:cs typeface="Arial" panose="020B0604020202020204" pitchFamily="34" charset="0"/>
              </a:rPr>
              <a:t>White settler cultural domination</a:t>
            </a:r>
          </a:p>
        </p:txBody>
      </p:sp>
      <p:sp>
        <p:nvSpPr>
          <p:cNvPr id="3" name="Content Placeholder 2"/>
          <p:cNvSpPr>
            <a:spLocks noGrp="1"/>
          </p:cNvSpPr>
          <p:nvPr>
            <p:ph idx="1"/>
          </p:nvPr>
        </p:nvSpPr>
        <p:spPr/>
        <p:txBody>
          <a:bodyPr>
            <a:normAutofit fontScale="85000" lnSpcReduction="20000"/>
          </a:bodyPr>
          <a:lstStyle/>
          <a:p>
            <a:endParaRPr lang="en-CA" sz="2400" b="1" dirty="0">
              <a:solidFill>
                <a:schemeClr val="tx1"/>
              </a:solidFill>
              <a:latin typeface="Arial" panose="020B0604020202020204" pitchFamily="34" charset="0"/>
              <a:cs typeface="Arial" panose="020B0604020202020204" pitchFamily="34" charset="0"/>
            </a:endParaRPr>
          </a:p>
          <a:p>
            <a:r>
              <a:rPr lang="en-CA" sz="2400" b="1" dirty="0">
                <a:solidFill>
                  <a:schemeClr val="tx1"/>
                </a:solidFill>
                <a:latin typeface="Arial" panose="020B0604020202020204" pitchFamily="34" charset="0"/>
                <a:cs typeface="Arial" panose="020B0604020202020204" pitchFamily="34" charset="0"/>
              </a:rPr>
              <a:t>The establishment and maintenance of white settler cultural domination in Canada has operated through a variety of means such as warfare, education, cultural genocide of Indigenous populations as well as through laws and policing practices</a:t>
            </a:r>
          </a:p>
          <a:p>
            <a:r>
              <a:rPr lang="en-CA" sz="2400" b="1" dirty="0">
                <a:solidFill>
                  <a:schemeClr val="tx1"/>
                </a:solidFill>
                <a:latin typeface="Arial" panose="020B0604020202020204" pitchFamily="34" charset="0"/>
                <a:cs typeface="Arial" panose="020B0604020202020204" pitchFamily="34" charset="0"/>
              </a:rPr>
              <a:t>Accompanied by and justified through racist ideologies whereby Indigenous cultures were and are constructed as inferior to white settler culture </a:t>
            </a:r>
          </a:p>
          <a:p>
            <a:r>
              <a:rPr lang="en-CA" sz="2400" b="1" dirty="0">
                <a:solidFill>
                  <a:schemeClr val="tx1"/>
                </a:solidFill>
                <a:latin typeface="Arial" panose="020B0604020202020204" pitchFamily="34" charset="0"/>
                <a:cs typeface="Arial" panose="020B0604020202020204" pitchFamily="34" charset="0"/>
              </a:rPr>
              <a:t>For the purpose of establishing and maintaining white settler cultural dominance: governing the nation through capitalism (capitalist exploitation of people, land and resources), patriarchy (subordination of women), white supremacy (subordination of non-white people: Indigenous peoples, non-white populations e.g. immigrants and Black populations) </a:t>
            </a:r>
          </a:p>
          <a:p>
            <a:endParaRPr lang="en-CA" dirty="0"/>
          </a:p>
        </p:txBody>
      </p:sp>
    </p:spTree>
    <p:extLst>
      <p:ext uri="{BB962C8B-B14F-4D97-AF65-F5344CB8AC3E}">
        <p14:creationId xmlns:p14="http://schemas.microsoft.com/office/powerpoint/2010/main" val="34621290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CA" sz="3200" b="1" dirty="0">
                <a:latin typeface="Arial" panose="020B0604020202020204" pitchFamily="34" charset="0"/>
                <a:cs typeface="Arial" panose="020B0604020202020204" pitchFamily="34" charset="0"/>
              </a:rPr>
              <a:t>Policing of Indigenous Populations </a:t>
            </a:r>
          </a:p>
        </p:txBody>
      </p:sp>
      <p:sp>
        <p:nvSpPr>
          <p:cNvPr id="3" name="Content Placeholder 2"/>
          <p:cNvSpPr>
            <a:spLocks noGrp="1"/>
          </p:cNvSpPr>
          <p:nvPr>
            <p:ph idx="1"/>
          </p:nvPr>
        </p:nvSpPr>
        <p:spPr/>
        <p:txBody>
          <a:bodyPr>
            <a:noAutofit/>
          </a:bodyPr>
          <a:lstStyle/>
          <a:p>
            <a:r>
              <a:rPr lang="en-CA" sz="2000" b="1" u="sng" dirty="0">
                <a:solidFill>
                  <a:schemeClr val="tx1"/>
                </a:solidFill>
                <a:latin typeface="Arial" panose="020B0604020202020204" pitchFamily="34" charset="0"/>
                <a:cs typeface="Arial" panose="020B0604020202020204" pitchFamily="34" charset="0"/>
              </a:rPr>
              <a:t>North West Mounted Police </a:t>
            </a:r>
            <a:r>
              <a:rPr lang="en-CA" sz="2000" b="1" u="sng">
                <a:solidFill>
                  <a:schemeClr val="tx1"/>
                </a:solidFill>
                <a:latin typeface="Arial" panose="020B0604020202020204" pitchFamily="34" charset="0"/>
                <a:cs typeface="Arial" panose="020B0604020202020204" pitchFamily="34" charset="0"/>
              </a:rPr>
              <a:t>(1873):  </a:t>
            </a:r>
            <a:endParaRPr lang="en-CA" sz="2000" b="1" u="sng" dirty="0">
              <a:solidFill>
                <a:schemeClr val="tx1"/>
              </a:solidFill>
              <a:latin typeface="Arial" panose="020B0604020202020204" pitchFamily="34" charset="0"/>
              <a:cs typeface="Arial" panose="020B0604020202020204" pitchFamily="34" charset="0"/>
            </a:endParaRPr>
          </a:p>
          <a:p>
            <a:r>
              <a:rPr lang="en-CA" sz="2000" b="1" dirty="0">
                <a:solidFill>
                  <a:schemeClr val="tx1"/>
                </a:solidFill>
                <a:latin typeface="Arial" panose="020B0604020202020204" pitchFamily="34" charset="0"/>
                <a:cs typeface="Arial" panose="020B0604020202020204" pitchFamily="34" charset="0"/>
              </a:rPr>
              <a:t>Semi-military body directly controlled from Ottawa</a:t>
            </a:r>
          </a:p>
          <a:p>
            <a:r>
              <a:rPr lang="en-CA" sz="2000" b="1" dirty="0">
                <a:solidFill>
                  <a:schemeClr val="tx1"/>
                </a:solidFill>
                <a:latin typeface="Arial" panose="020B0604020202020204" pitchFamily="34" charset="0"/>
                <a:cs typeface="Arial" panose="020B0604020202020204" pitchFamily="34" charset="0"/>
              </a:rPr>
              <a:t>Control rebellions against colonial rule (came out of Cyprus Hills massacre) </a:t>
            </a:r>
          </a:p>
          <a:p>
            <a:r>
              <a:rPr lang="en-CA" sz="2000" b="1" dirty="0">
                <a:solidFill>
                  <a:schemeClr val="tx1"/>
                </a:solidFill>
                <a:latin typeface="Arial" panose="020B0604020202020204" pitchFamily="34" charset="0"/>
                <a:cs typeface="Arial" panose="020B0604020202020204" pitchFamily="34" charset="0"/>
              </a:rPr>
              <a:t>“ensure the submission of Indigenous peoples to colonial rule” (</a:t>
            </a:r>
            <a:r>
              <a:rPr lang="en-CA" sz="2000" b="1" dirty="0" err="1">
                <a:solidFill>
                  <a:schemeClr val="tx1"/>
                </a:solidFill>
                <a:latin typeface="Arial" panose="020B0604020202020204" pitchFamily="34" charset="0"/>
                <a:cs typeface="Arial" panose="020B0604020202020204" pitchFamily="34" charset="0"/>
              </a:rPr>
              <a:t>Nettelbeck</a:t>
            </a:r>
            <a:r>
              <a:rPr lang="en-CA" sz="2000" b="1" dirty="0">
                <a:solidFill>
                  <a:schemeClr val="tx1"/>
                </a:solidFill>
                <a:latin typeface="Arial" panose="020B0604020202020204" pitchFamily="34" charset="0"/>
                <a:cs typeface="Arial" panose="020B0604020202020204" pitchFamily="34" charset="0"/>
              </a:rPr>
              <a:t> and </a:t>
            </a:r>
            <a:r>
              <a:rPr lang="en-CA" sz="2000" b="1" dirty="0" err="1">
                <a:solidFill>
                  <a:schemeClr val="tx1"/>
                </a:solidFill>
                <a:latin typeface="Arial" panose="020B0604020202020204" pitchFamily="34" charset="0"/>
                <a:cs typeface="Arial" panose="020B0604020202020204" pitchFamily="34" charset="0"/>
              </a:rPr>
              <a:t>Smandych</a:t>
            </a:r>
            <a:r>
              <a:rPr lang="en-CA" sz="2000" b="1" dirty="0">
                <a:solidFill>
                  <a:schemeClr val="tx1"/>
                </a:solidFill>
                <a:latin typeface="Arial" panose="020B0604020202020204" pitchFamily="34" charset="0"/>
                <a:cs typeface="Arial" panose="020B0604020202020204" pitchFamily="34" charset="0"/>
              </a:rPr>
              <a:t> 2010, 357)</a:t>
            </a:r>
          </a:p>
          <a:p>
            <a:r>
              <a:rPr lang="en-CA" sz="2000" b="1" dirty="0">
                <a:solidFill>
                  <a:schemeClr val="tx1"/>
                </a:solidFill>
                <a:latin typeface="Arial" panose="020B0604020202020204" pitchFamily="34" charset="0"/>
                <a:cs typeface="Arial" panose="020B0604020202020204" pitchFamily="34" charset="0"/>
              </a:rPr>
              <a:t>Unprecedented authority: power to arrest, prosecute, judge and jail </a:t>
            </a:r>
          </a:p>
          <a:p>
            <a:r>
              <a:rPr lang="en-CA" sz="2000" b="1" dirty="0">
                <a:solidFill>
                  <a:schemeClr val="tx1"/>
                </a:solidFill>
                <a:latin typeface="Arial" panose="020B0604020202020204" pitchFamily="34" charset="0"/>
                <a:cs typeface="Arial" panose="020B0604020202020204" pitchFamily="34" charset="0"/>
              </a:rPr>
              <a:t>Implementing government policies to ensure the rendering of Indigenous populations into carceral spaces such as onto reserves, into prisons and residential schools </a:t>
            </a:r>
          </a:p>
          <a:p>
            <a:r>
              <a:rPr lang="en-CA" sz="2000" b="1" dirty="0">
                <a:solidFill>
                  <a:schemeClr val="tx1"/>
                </a:solidFill>
                <a:latin typeface="Arial" panose="020B0604020202020204" pitchFamily="34" charset="0"/>
                <a:cs typeface="Arial" panose="020B0604020202020204" pitchFamily="34" charset="0"/>
              </a:rPr>
              <a:t>Extinction of buffalo</a:t>
            </a:r>
          </a:p>
          <a:p>
            <a:endParaRPr lang="en-CA" sz="2000" dirty="0"/>
          </a:p>
        </p:txBody>
      </p:sp>
    </p:spTree>
    <p:extLst>
      <p:ext uri="{BB962C8B-B14F-4D97-AF65-F5344CB8AC3E}">
        <p14:creationId xmlns:p14="http://schemas.microsoft.com/office/powerpoint/2010/main" val="9931073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CA" sz="3200" b="1" dirty="0">
                <a:latin typeface="Arial" panose="020B0604020202020204" pitchFamily="34" charset="0"/>
                <a:cs typeface="Arial" panose="020B0604020202020204" pitchFamily="34" charset="0"/>
              </a:rPr>
              <a:t>British and French Colonialism </a:t>
            </a:r>
          </a:p>
        </p:txBody>
      </p:sp>
      <p:sp>
        <p:nvSpPr>
          <p:cNvPr id="3" name="Content Placeholder 2"/>
          <p:cNvSpPr>
            <a:spLocks noGrp="1"/>
          </p:cNvSpPr>
          <p:nvPr>
            <p:ph idx="1"/>
          </p:nvPr>
        </p:nvSpPr>
        <p:spPr/>
        <p:txBody>
          <a:bodyPr>
            <a:normAutofit/>
          </a:bodyPr>
          <a:lstStyle/>
          <a:p>
            <a:r>
              <a:rPr lang="en-CA" sz="2400" b="1" dirty="0">
                <a:solidFill>
                  <a:schemeClr val="tx1"/>
                </a:solidFill>
                <a:latin typeface="Arial" panose="020B0604020202020204" pitchFamily="34" charset="0"/>
                <a:cs typeface="Arial" panose="020B0604020202020204" pitchFamily="34" charset="0"/>
              </a:rPr>
              <a:t>Context of British and French imperialism, Canada as a white settler nation-state was established through land theft and removal of Indigenous people from their land (part. 19</a:t>
            </a:r>
            <a:r>
              <a:rPr lang="en-CA" sz="2400" b="1" baseline="30000" dirty="0">
                <a:solidFill>
                  <a:schemeClr val="tx1"/>
                </a:solidFill>
                <a:latin typeface="Arial" panose="020B0604020202020204" pitchFamily="34" charset="0"/>
                <a:cs typeface="Arial" panose="020B0604020202020204" pitchFamily="34" charset="0"/>
              </a:rPr>
              <a:t>th</a:t>
            </a:r>
            <a:r>
              <a:rPr lang="en-CA" sz="2400" b="1" dirty="0">
                <a:solidFill>
                  <a:schemeClr val="tx1"/>
                </a:solidFill>
                <a:latin typeface="Arial" panose="020B0604020202020204" pitchFamily="34" charset="0"/>
                <a:cs typeface="Arial" panose="020B0604020202020204" pitchFamily="34" charset="0"/>
              </a:rPr>
              <a:t> century) </a:t>
            </a:r>
          </a:p>
          <a:p>
            <a:r>
              <a:rPr lang="en-CA" sz="2400" b="1" u="sng" dirty="0">
                <a:solidFill>
                  <a:schemeClr val="tx1"/>
                </a:solidFill>
                <a:latin typeface="Arial" panose="020B0604020202020204" pitchFamily="34" charset="0"/>
                <a:cs typeface="Arial" panose="020B0604020202020204" pitchFamily="34" charset="0"/>
              </a:rPr>
              <a:t>Treaties</a:t>
            </a:r>
            <a:endParaRPr lang="en-CA" sz="2400" b="1" dirty="0">
              <a:solidFill>
                <a:schemeClr val="tx1"/>
              </a:solidFill>
              <a:latin typeface="Arial" panose="020B0604020202020204" pitchFamily="34" charset="0"/>
              <a:cs typeface="Arial" panose="020B0604020202020204" pitchFamily="34" charset="0"/>
            </a:endParaRPr>
          </a:p>
          <a:p>
            <a:r>
              <a:rPr lang="en-CA" sz="2400" b="1" dirty="0">
                <a:solidFill>
                  <a:schemeClr val="tx1"/>
                </a:solidFill>
                <a:latin typeface="Arial" panose="020B0604020202020204" pitchFamily="34" charset="0"/>
                <a:cs typeface="Arial" panose="020B0604020202020204" pitchFamily="34" charset="0"/>
              </a:rPr>
              <a:t>Transfer of large tracts of land to white settler government</a:t>
            </a:r>
          </a:p>
        </p:txBody>
      </p:sp>
    </p:spTree>
    <p:extLst>
      <p:ext uri="{BB962C8B-B14F-4D97-AF65-F5344CB8AC3E}">
        <p14:creationId xmlns:p14="http://schemas.microsoft.com/office/powerpoint/2010/main" val="33067337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CA" sz="3200" b="1" dirty="0">
                <a:latin typeface="Arial" panose="020B0604020202020204" pitchFamily="34" charset="0"/>
                <a:cs typeface="Arial" panose="020B0604020202020204" pitchFamily="34" charset="0"/>
              </a:rPr>
              <a:t>Treaties (Royal Commission on Aboriginal Peoples 1996)  </a:t>
            </a:r>
          </a:p>
        </p:txBody>
      </p:sp>
      <p:sp>
        <p:nvSpPr>
          <p:cNvPr id="3" name="Content Placeholder 2"/>
          <p:cNvSpPr>
            <a:spLocks noGrp="1"/>
          </p:cNvSpPr>
          <p:nvPr>
            <p:ph idx="1"/>
          </p:nvPr>
        </p:nvSpPr>
        <p:spPr/>
        <p:txBody>
          <a:bodyPr>
            <a:normAutofit fontScale="92500"/>
          </a:bodyPr>
          <a:lstStyle/>
          <a:p>
            <a:endParaRPr lang="en-CA" b="1" u="sng" dirty="0">
              <a:latin typeface="Arial" panose="020B0604020202020204" pitchFamily="34" charset="0"/>
              <a:cs typeface="Arial" panose="020B0604020202020204" pitchFamily="34" charset="0"/>
            </a:endParaRPr>
          </a:p>
          <a:p>
            <a:r>
              <a:rPr lang="en-CA" sz="2800" b="1" u="sng" dirty="0">
                <a:solidFill>
                  <a:schemeClr val="tx1"/>
                </a:solidFill>
                <a:latin typeface="Arial" panose="020B0604020202020204" pitchFamily="34" charset="0"/>
                <a:cs typeface="Arial" panose="020B0604020202020204" pitchFamily="34" charset="0"/>
              </a:rPr>
              <a:t>Treaties (Royal Commission on Aboriginal peoples (1996): </a:t>
            </a:r>
          </a:p>
          <a:p>
            <a:r>
              <a:rPr lang="en-CA" sz="2800" b="1" dirty="0">
                <a:solidFill>
                  <a:schemeClr val="tx1"/>
                </a:solidFill>
                <a:latin typeface="Arial" panose="020B0604020202020204" pitchFamily="34" charset="0"/>
                <a:cs typeface="Arial" panose="020B0604020202020204" pitchFamily="34" charset="0"/>
              </a:rPr>
              <a:t>considered less expensive, more efficient and more acceptable</a:t>
            </a:r>
          </a:p>
          <a:p>
            <a:r>
              <a:rPr lang="en-CA" sz="2800" b="1" dirty="0">
                <a:solidFill>
                  <a:schemeClr val="tx1"/>
                </a:solidFill>
                <a:latin typeface="Arial" panose="020B0604020202020204" pitchFamily="34" charset="0"/>
                <a:cs typeface="Arial" panose="020B0604020202020204" pitchFamily="34" charset="0"/>
              </a:rPr>
              <a:t>Indigenous cultures inferior to white settler </a:t>
            </a:r>
          </a:p>
          <a:p>
            <a:r>
              <a:rPr lang="en-CA" sz="2800" b="1" dirty="0">
                <a:solidFill>
                  <a:schemeClr val="tx1"/>
                </a:solidFill>
                <a:latin typeface="Arial" panose="020B0604020202020204" pitchFamily="34" charset="0"/>
                <a:cs typeface="Arial" panose="020B0604020202020204" pitchFamily="34" charset="0"/>
              </a:rPr>
              <a:t>Indigenous Peoples were treated as “children of the state”</a:t>
            </a:r>
          </a:p>
          <a:p>
            <a:endParaRPr lang="en-CA" sz="2800" dirty="0"/>
          </a:p>
        </p:txBody>
      </p:sp>
    </p:spTree>
    <p:extLst>
      <p:ext uri="{BB962C8B-B14F-4D97-AF65-F5344CB8AC3E}">
        <p14:creationId xmlns:p14="http://schemas.microsoft.com/office/powerpoint/2010/main" val="11203651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CA" sz="3600" b="1" dirty="0">
                <a:latin typeface="Arial" panose="020B0604020202020204" pitchFamily="34" charset="0"/>
                <a:cs typeface="Arial" panose="020B0604020202020204" pitchFamily="34" charset="0"/>
              </a:rPr>
              <a:t>Indian Act of Canada (1876)</a:t>
            </a:r>
          </a:p>
        </p:txBody>
      </p:sp>
      <p:sp>
        <p:nvSpPr>
          <p:cNvPr id="3" name="Content Placeholder 2"/>
          <p:cNvSpPr>
            <a:spLocks noGrp="1"/>
          </p:cNvSpPr>
          <p:nvPr>
            <p:ph idx="1"/>
          </p:nvPr>
        </p:nvSpPr>
        <p:spPr/>
        <p:txBody>
          <a:bodyPr>
            <a:normAutofit fontScale="92500" lnSpcReduction="20000"/>
          </a:bodyPr>
          <a:lstStyle/>
          <a:p>
            <a:r>
              <a:rPr lang="en-CA" sz="2800" b="1" dirty="0">
                <a:solidFill>
                  <a:schemeClr val="tx1"/>
                </a:solidFill>
                <a:latin typeface="Arial" panose="020B0604020202020204" pitchFamily="34" charset="0"/>
                <a:cs typeface="Arial" panose="020B0604020202020204" pitchFamily="34" charset="0"/>
              </a:rPr>
              <a:t>Defining identity as “Indian” to determine who has access to land and resources</a:t>
            </a:r>
          </a:p>
          <a:p>
            <a:r>
              <a:rPr lang="en-CA" sz="2800" b="1" dirty="0">
                <a:solidFill>
                  <a:schemeClr val="tx1"/>
                </a:solidFill>
                <a:latin typeface="Arial" panose="020B0604020202020204" pitchFamily="34" charset="0"/>
                <a:cs typeface="Arial" panose="020B0604020202020204" pitchFamily="34" charset="0"/>
              </a:rPr>
              <a:t>Mixed race marriage and children: no access to land</a:t>
            </a:r>
          </a:p>
          <a:p>
            <a:r>
              <a:rPr lang="en-CA" sz="2800" b="1" dirty="0">
                <a:solidFill>
                  <a:schemeClr val="tx1"/>
                </a:solidFill>
                <a:latin typeface="Arial" panose="020B0604020202020204" pitchFamily="34" charset="0"/>
                <a:cs typeface="Arial" panose="020B0604020202020204" pitchFamily="34" charset="0"/>
              </a:rPr>
              <a:t>Restrictions of mobility: reserves, permissions to leave and ‘trespass’</a:t>
            </a:r>
          </a:p>
          <a:p>
            <a:r>
              <a:rPr lang="en-CA" sz="2800" b="1" dirty="0">
                <a:solidFill>
                  <a:schemeClr val="tx1"/>
                </a:solidFill>
                <a:latin typeface="Arial" panose="020B0604020202020204" pitchFamily="34" charset="0"/>
                <a:cs typeface="Arial" panose="020B0604020202020204" pitchFamily="34" charset="0"/>
              </a:rPr>
              <a:t>Removes Indigenous populations from land onto reserves and prisons </a:t>
            </a:r>
          </a:p>
          <a:p>
            <a:r>
              <a:rPr lang="en-CA" sz="2800" b="1" dirty="0">
                <a:solidFill>
                  <a:schemeClr val="tx1"/>
                </a:solidFill>
                <a:latin typeface="Arial" panose="020B0604020202020204" pitchFamily="34" charset="0"/>
                <a:cs typeface="Arial" panose="020B0604020202020204" pitchFamily="34" charset="0"/>
              </a:rPr>
              <a:t>Replacing economic and political systems of governance by Western capitalist worldviews</a:t>
            </a:r>
            <a:endParaRPr lang="en-CA" sz="2800" dirty="0">
              <a:solidFill>
                <a:schemeClr val="tx1"/>
              </a:solidFill>
            </a:endParaRPr>
          </a:p>
        </p:txBody>
      </p:sp>
    </p:spTree>
    <p:extLst>
      <p:ext uri="{BB962C8B-B14F-4D97-AF65-F5344CB8AC3E}">
        <p14:creationId xmlns:p14="http://schemas.microsoft.com/office/powerpoint/2010/main" val="3452426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CA" b="1" dirty="0">
                <a:latin typeface="Arial" panose="020B0604020202020204" pitchFamily="34" charset="0"/>
                <a:cs typeface="Arial" panose="020B0604020202020204" pitchFamily="34" charset="0"/>
              </a:rPr>
              <a:t>Laws</a:t>
            </a:r>
            <a:endParaRPr lang="en-CA" dirty="0"/>
          </a:p>
        </p:txBody>
      </p:sp>
      <p:sp>
        <p:nvSpPr>
          <p:cNvPr id="3" name="Content Placeholder 2"/>
          <p:cNvSpPr>
            <a:spLocks noGrp="1"/>
          </p:cNvSpPr>
          <p:nvPr>
            <p:ph idx="1"/>
          </p:nvPr>
        </p:nvSpPr>
        <p:spPr/>
        <p:txBody>
          <a:bodyPr>
            <a:normAutofit/>
          </a:bodyPr>
          <a:lstStyle/>
          <a:p>
            <a:r>
              <a:rPr lang="en-CA" sz="2800" b="1" dirty="0">
                <a:solidFill>
                  <a:schemeClr val="tx1"/>
                </a:solidFill>
                <a:latin typeface="Arial" panose="020B0604020202020204" pitchFamily="34" charset="0"/>
                <a:cs typeface="Arial" panose="020B0604020202020204" pitchFamily="34" charset="0"/>
              </a:rPr>
              <a:t>Terra nullius: land inhibited by no one. Empty lands</a:t>
            </a:r>
          </a:p>
          <a:p>
            <a:r>
              <a:rPr lang="en-CA" sz="2800" b="1" i="1" u="sng" dirty="0">
                <a:solidFill>
                  <a:schemeClr val="tx1"/>
                </a:solidFill>
                <a:latin typeface="Arial" panose="020B0604020202020204" pitchFamily="34" charset="0"/>
                <a:cs typeface="Arial" panose="020B0604020202020204" pitchFamily="34" charset="0"/>
              </a:rPr>
              <a:t>Criminal Law:</a:t>
            </a:r>
          </a:p>
          <a:p>
            <a:r>
              <a:rPr lang="en-CA" sz="2800" b="1" dirty="0">
                <a:solidFill>
                  <a:schemeClr val="tx1"/>
                </a:solidFill>
                <a:latin typeface="Arial" panose="020B0604020202020204" pitchFamily="34" charset="0"/>
                <a:cs typeface="Arial" panose="020B0604020202020204" pitchFamily="34" charset="0"/>
              </a:rPr>
              <a:t>First Criminal Code was established in 1892 </a:t>
            </a:r>
          </a:p>
          <a:p>
            <a:r>
              <a:rPr lang="en-CA" sz="2800" b="1" dirty="0">
                <a:solidFill>
                  <a:schemeClr val="tx1"/>
                </a:solidFill>
                <a:latin typeface="Arial" panose="020B0604020202020204" pitchFamily="34" charset="0"/>
                <a:cs typeface="Arial" panose="020B0604020202020204" pitchFamily="34" charset="0"/>
              </a:rPr>
              <a:t>Adopted from English Draft Code 1879 (Kramer 2011:5)</a:t>
            </a:r>
          </a:p>
          <a:p>
            <a:r>
              <a:rPr lang="en-CA" sz="2800" b="1" dirty="0">
                <a:solidFill>
                  <a:schemeClr val="tx1"/>
                </a:solidFill>
                <a:latin typeface="Arial" panose="020B0604020202020204" pitchFamily="34" charset="0"/>
                <a:cs typeface="Arial" panose="020B0604020202020204" pitchFamily="34" charset="0"/>
              </a:rPr>
              <a:t>definitions of crime targeting Indigenous cultural practices</a:t>
            </a:r>
          </a:p>
        </p:txBody>
      </p:sp>
    </p:spTree>
    <p:extLst>
      <p:ext uri="{BB962C8B-B14F-4D97-AF65-F5344CB8AC3E}">
        <p14:creationId xmlns:p14="http://schemas.microsoft.com/office/powerpoint/2010/main" val="23405752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CA" b="1" dirty="0">
                <a:latin typeface="Arial" panose="020B0604020202020204" pitchFamily="34" charset="0"/>
                <a:cs typeface="Arial" panose="020B0604020202020204" pitchFamily="34" charset="0"/>
              </a:rPr>
              <a:t>Criminal Code of Canada</a:t>
            </a:r>
            <a:endParaRPr lang="en-CA" dirty="0"/>
          </a:p>
        </p:txBody>
      </p:sp>
      <p:sp>
        <p:nvSpPr>
          <p:cNvPr id="3" name="Content Placeholder 2"/>
          <p:cNvSpPr>
            <a:spLocks noGrp="1"/>
          </p:cNvSpPr>
          <p:nvPr>
            <p:ph idx="1"/>
          </p:nvPr>
        </p:nvSpPr>
        <p:spPr/>
        <p:txBody>
          <a:bodyPr>
            <a:normAutofit fontScale="47500" lnSpcReduction="20000"/>
          </a:bodyPr>
          <a:lstStyle/>
          <a:p>
            <a:r>
              <a:rPr lang="en-CA" sz="5100" b="1" dirty="0">
                <a:solidFill>
                  <a:schemeClr val="tx1"/>
                </a:solidFill>
                <a:latin typeface="Arial" panose="020B0604020202020204" pitchFamily="34" charset="0"/>
                <a:cs typeface="Arial" panose="020B0604020202020204" pitchFamily="34" charset="0"/>
              </a:rPr>
              <a:t>Outlawing cultural practices</a:t>
            </a:r>
          </a:p>
          <a:p>
            <a:r>
              <a:rPr lang="en-CA" sz="5100" b="1" dirty="0">
                <a:solidFill>
                  <a:schemeClr val="tx1"/>
                </a:solidFill>
                <a:latin typeface="Arial" panose="020B0604020202020204" pitchFamily="34" charset="0"/>
                <a:cs typeface="Arial" panose="020B0604020202020204" pitchFamily="34" charset="0"/>
              </a:rPr>
              <a:t>Until 1951 criminalized cultural conduct, for example,</a:t>
            </a:r>
          </a:p>
          <a:p>
            <a:r>
              <a:rPr lang="en-CA" sz="5100" b="1" dirty="0">
                <a:solidFill>
                  <a:schemeClr val="tx1"/>
                </a:solidFill>
                <a:latin typeface="Arial" panose="020B0604020202020204" pitchFamily="34" charset="0"/>
                <a:cs typeface="Arial" panose="020B0604020202020204" pitchFamily="34" charset="0"/>
              </a:rPr>
              <a:t>Outlawed Potlatch and </a:t>
            </a:r>
            <a:r>
              <a:rPr lang="en-CA" sz="5100" b="1" dirty="0" err="1">
                <a:solidFill>
                  <a:schemeClr val="tx1"/>
                </a:solidFill>
                <a:latin typeface="Arial" panose="020B0604020202020204" pitchFamily="34" charset="0"/>
                <a:cs typeface="Arial" panose="020B0604020202020204" pitchFamily="34" charset="0"/>
              </a:rPr>
              <a:t>Tamanawas</a:t>
            </a:r>
            <a:r>
              <a:rPr lang="en-CA" sz="5100" b="1" dirty="0">
                <a:solidFill>
                  <a:schemeClr val="tx1"/>
                </a:solidFill>
                <a:latin typeface="Arial" panose="020B0604020202020204" pitchFamily="34" charset="0"/>
                <a:cs typeface="Arial" panose="020B0604020202020204" pitchFamily="34" charset="0"/>
              </a:rPr>
              <a:t> dance ceremonies (Pacific Coast) and Blackfoot Confederacy (mandatory minimum sentences 2-6 months in prison)</a:t>
            </a:r>
          </a:p>
          <a:p>
            <a:r>
              <a:rPr lang="en-CA" sz="5100" b="1" dirty="0">
                <a:solidFill>
                  <a:schemeClr val="tx1"/>
                </a:solidFill>
                <a:latin typeface="Arial" panose="020B0604020202020204" pitchFamily="34" charset="0"/>
                <a:cs typeface="Arial" panose="020B0604020202020204" pitchFamily="34" charset="0"/>
              </a:rPr>
              <a:t>1983 section 97 (b) tried to criminalize intoxication on Indian reserves </a:t>
            </a:r>
          </a:p>
          <a:p>
            <a:r>
              <a:rPr lang="en-CA" sz="5100" b="1" dirty="0">
                <a:solidFill>
                  <a:schemeClr val="tx1"/>
                </a:solidFill>
                <a:latin typeface="Arial" panose="020B0604020202020204" pitchFamily="34" charset="0"/>
                <a:cs typeface="Arial" panose="020B0604020202020204" pitchFamily="34" charset="0"/>
              </a:rPr>
              <a:t>Criminalization of leaving the reserves (trespassing)</a:t>
            </a:r>
          </a:p>
          <a:p>
            <a:r>
              <a:rPr lang="en-CA" sz="5100" b="1" dirty="0">
                <a:solidFill>
                  <a:schemeClr val="tx1"/>
                </a:solidFill>
                <a:latin typeface="Arial" panose="020B0604020202020204" pitchFamily="34" charset="0"/>
                <a:cs typeface="Arial" panose="020B0604020202020204" pitchFamily="34" charset="0"/>
              </a:rPr>
              <a:t>Restrictions of the right to vote</a:t>
            </a:r>
          </a:p>
          <a:p>
            <a:endParaRPr lang="en-CA" b="1" dirty="0">
              <a:solidFill>
                <a:schemeClr val="tx1"/>
              </a:solidFill>
              <a:latin typeface="Arial" panose="020B0604020202020204" pitchFamily="34" charset="0"/>
              <a:cs typeface="Arial" panose="020B0604020202020204" pitchFamily="34" charset="0"/>
            </a:endParaRPr>
          </a:p>
          <a:p>
            <a:endParaRPr lang="en-CA" dirty="0">
              <a:solidFill>
                <a:schemeClr val="tx1"/>
              </a:solidFill>
            </a:endParaRPr>
          </a:p>
        </p:txBody>
      </p:sp>
    </p:spTree>
    <p:extLst>
      <p:ext uri="{BB962C8B-B14F-4D97-AF65-F5344CB8AC3E}">
        <p14:creationId xmlns:p14="http://schemas.microsoft.com/office/powerpoint/2010/main" val="10031058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CA" sz="4000" b="1" dirty="0">
                <a:latin typeface="Arial" panose="020B0604020202020204" pitchFamily="34" charset="0"/>
                <a:cs typeface="Arial" panose="020B0604020202020204" pitchFamily="34" charset="0"/>
              </a:rPr>
              <a:t>The Role of Police in Residential Schools </a:t>
            </a:r>
            <a:br>
              <a:rPr lang="en-CA" sz="3600" b="1" dirty="0">
                <a:latin typeface="Arial" panose="020B0604020202020204" pitchFamily="34" charset="0"/>
                <a:cs typeface="Arial" panose="020B0604020202020204" pitchFamily="34" charset="0"/>
              </a:rPr>
            </a:br>
            <a:endParaRPr lang="en-CA" sz="3600" dirty="0"/>
          </a:p>
        </p:txBody>
      </p:sp>
      <p:sp>
        <p:nvSpPr>
          <p:cNvPr id="3" name="Content Placeholder 2"/>
          <p:cNvSpPr>
            <a:spLocks noGrp="1"/>
          </p:cNvSpPr>
          <p:nvPr>
            <p:ph idx="1"/>
          </p:nvPr>
        </p:nvSpPr>
        <p:spPr/>
        <p:txBody>
          <a:bodyPr>
            <a:normAutofit fontScale="92500" lnSpcReduction="10000"/>
          </a:bodyPr>
          <a:lstStyle/>
          <a:p>
            <a:endParaRPr lang="en-CA" sz="3000" b="1" dirty="0">
              <a:solidFill>
                <a:schemeClr val="tx1"/>
              </a:solidFill>
              <a:latin typeface="Arial" panose="020B0604020202020204" pitchFamily="34" charset="0"/>
              <a:cs typeface="Arial" panose="020B0604020202020204" pitchFamily="34" charset="0"/>
            </a:endParaRPr>
          </a:p>
          <a:p>
            <a:r>
              <a:rPr lang="en-CA" sz="3000" b="1" dirty="0">
                <a:solidFill>
                  <a:schemeClr val="tx1"/>
                </a:solidFill>
                <a:latin typeface="Arial" panose="020B0604020202020204" pitchFamily="34" charset="0"/>
                <a:cs typeface="Arial" panose="020B0604020202020204" pitchFamily="34" charset="0"/>
              </a:rPr>
              <a:t>Removal of children from parents, extended family and community assimilation </a:t>
            </a:r>
          </a:p>
          <a:p>
            <a:r>
              <a:rPr lang="en-CA" sz="3000" b="1" dirty="0">
                <a:solidFill>
                  <a:schemeClr val="tx1"/>
                </a:solidFill>
                <a:latin typeface="Arial" panose="020B0604020202020204" pitchFamily="34" charset="0"/>
                <a:cs typeface="Arial" panose="020B0604020202020204" pitchFamily="34" charset="0"/>
              </a:rPr>
              <a:t>use of force and </a:t>
            </a:r>
          </a:p>
          <a:p>
            <a:r>
              <a:rPr lang="en-CA" sz="3000" b="1" dirty="0">
                <a:solidFill>
                  <a:schemeClr val="tx1"/>
                </a:solidFill>
                <a:latin typeface="Arial" panose="020B0604020202020204" pitchFamily="34" charset="0"/>
                <a:cs typeface="Arial" panose="020B0604020202020204" pitchFamily="34" charset="0"/>
              </a:rPr>
              <a:t>Education </a:t>
            </a:r>
          </a:p>
          <a:p>
            <a:r>
              <a:rPr lang="en-CA" sz="3000" b="1" dirty="0">
                <a:solidFill>
                  <a:schemeClr val="tx1"/>
                </a:solidFill>
                <a:latin typeface="Arial" panose="020B0604020202020204" pitchFamily="34" charset="0"/>
                <a:cs typeface="Arial" panose="020B0604020202020204" pitchFamily="34" charset="0"/>
              </a:rPr>
              <a:t>civilizing project from “savage to citizen” (Comack 2012, 72) is a racist project that is ongoing form of genocide </a:t>
            </a:r>
          </a:p>
          <a:p>
            <a:endParaRPr lang="en-CA" sz="3600" dirty="0"/>
          </a:p>
        </p:txBody>
      </p:sp>
    </p:spTree>
    <p:extLst>
      <p:ext uri="{BB962C8B-B14F-4D97-AF65-F5344CB8AC3E}">
        <p14:creationId xmlns:p14="http://schemas.microsoft.com/office/powerpoint/2010/main" val="22067874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CA" b="1" dirty="0">
                <a:latin typeface="Arial" panose="020B0604020202020204" pitchFamily="34" charset="0"/>
                <a:cs typeface="Arial" panose="020B0604020202020204" pitchFamily="34" charset="0"/>
              </a:rPr>
              <a:t>The Canadian Police Apparatus (20 and  21th century)</a:t>
            </a:r>
            <a:endParaRPr lang="en-US" dirty="0"/>
          </a:p>
        </p:txBody>
      </p:sp>
      <p:sp>
        <p:nvSpPr>
          <p:cNvPr id="3" name="Content Placeholder 2"/>
          <p:cNvSpPr>
            <a:spLocks noGrp="1"/>
          </p:cNvSpPr>
          <p:nvPr>
            <p:ph idx="1"/>
          </p:nvPr>
        </p:nvSpPr>
        <p:spPr/>
        <p:txBody>
          <a:bodyPr>
            <a:normAutofit/>
          </a:bodyPr>
          <a:lstStyle/>
          <a:p>
            <a:r>
              <a:rPr lang="en-CA" sz="2400" b="1" u="sng" dirty="0">
                <a:solidFill>
                  <a:schemeClr val="tx1"/>
                </a:solidFill>
                <a:latin typeface="Arial" panose="020B0604020202020204" pitchFamily="34" charset="0"/>
                <a:cs typeface="Arial" panose="020B0604020202020204" pitchFamily="34" charset="0"/>
              </a:rPr>
              <a:t>20</a:t>
            </a:r>
            <a:r>
              <a:rPr lang="en-CA" sz="2400" b="1" u="sng" baseline="30000" dirty="0">
                <a:solidFill>
                  <a:schemeClr val="tx1"/>
                </a:solidFill>
                <a:latin typeface="Arial" panose="020B0604020202020204" pitchFamily="34" charset="0"/>
                <a:cs typeface="Arial" panose="020B0604020202020204" pitchFamily="34" charset="0"/>
              </a:rPr>
              <a:t>th</a:t>
            </a:r>
            <a:r>
              <a:rPr lang="en-CA" sz="2400" b="1" u="sng" dirty="0">
                <a:solidFill>
                  <a:schemeClr val="tx1"/>
                </a:solidFill>
                <a:latin typeface="Arial" panose="020B0604020202020204" pitchFamily="34" charset="0"/>
                <a:cs typeface="Arial" panose="020B0604020202020204" pitchFamily="34" charset="0"/>
              </a:rPr>
              <a:t> century </a:t>
            </a:r>
          </a:p>
          <a:p>
            <a:r>
              <a:rPr lang="en-CA" sz="2400" b="1" dirty="0">
                <a:solidFill>
                  <a:schemeClr val="tx1"/>
                </a:solidFill>
                <a:latin typeface="Arial" panose="020B0604020202020204" pitchFamily="34" charset="0"/>
                <a:cs typeface="Arial" panose="020B0604020202020204" pitchFamily="34" charset="0"/>
              </a:rPr>
              <a:t>Legitimacy of state police apparatus was on the rise</a:t>
            </a:r>
          </a:p>
          <a:p>
            <a:r>
              <a:rPr lang="en-CA" sz="2400" b="1" dirty="0">
                <a:solidFill>
                  <a:schemeClr val="tx1"/>
                </a:solidFill>
                <a:latin typeface="Arial" panose="020B0604020202020204" pitchFamily="34" charset="0"/>
                <a:cs typeface="Arial" panose="020B0604020202020204" pitchFamily="34" charset="0"/>
              </a:rPr>
              <a:t>Reduction of privatized hiring, communal policing constables</a:t>
            </a:r>
          </a:p>
          <a:p>
            <a:r>
              <a:rPr lang="en-CA" sz="2400" b="1" dirty="0">
                <a:solidFill>
                  <a:schemeClr val="tx1"/>
                </a:solidFill>
                <a:latin typeface="Arial" panose="020B0604020202020204" pitchFamily="34" charset="0"/>
                <a:cs typeface="Arial" panose="020B0604020202020204" pitchFamily="34" charset="0"/>
              </a:rPr>
              <a:t>Police was established as an institution of the state on multiple </a:t>
            </a:r>
          </a:p>
          <a:p>
            <a:r>
              <a:rPr lang="en-CA" sz="2400" b="1" dirty="0">
                <a:solidFill>
                  <a:schemeClr val="tx1"/>
                </a:solidFill>
                <a:latin typeface="Arial" panose="020B0604020202020204" pitchFamily="34" charset="0"/>
                <a:cs typeface="Arial" panose="020B0604020202020204" pitchFamily="34" charset="0"/>
              </a:rPr>
              <a:t>Highly structured and organized: ranks and position</a:t>
            </a:r>
          </a:p>
          <a:p>
            <a:r>
              <a:rPr lang="en-CA" sz="2400" b="1" dirty="0">
                <a:solidFill>
                  <a:schemeClr val="tx1"/>
                </a:solidFill>
                <a:latin typeface="Arial" panose="020B0604020202020204" pitchFamily="34" charset="0"/>
                <a:cs typeface="Arial" panose="020B0604020202020204" pitchFamily="34" charset="0"/>
              </a:rPr>
              <a:t>Police procedures, rules of conduct, concrete mandates, evidence based policing, reactive policing  </a:t>
            </a:r>
            <a:endParaRPr lang="en-US" sz="24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57110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CA" b="1" dirty="0">
                <a:latin typeface="Arial" panose="020B0604020202020204" pitchFamily="34" charset="0"/>
                <a:cs typeface="Arial" panose="020B0604020202020204" pitchFamily="34" charset="0"/>
              </a:rPr>
              <a:t>Canadian Police levels</a:t>
            </a:r>
          </a:p>
        </p:txBody>
      </p:sp>
      <p:sp>
        <p:nvSpPr>
          <p:cNvPr id="3" name="Content Placeholder 2"/>
          <p:cNvSpPr>
            <a:spLocks noGrp="1"/>
          </p:cNvSpPr>
          <p:nvPr>
            <p:ph idx="1"/>
          </p:nvPr>
        </p:nvSpPr>
        <p:spPr/>
        <p:txBody>
          <a:bodyPr>
            <a:normAutofit fontScale="85000" lnSpcReduction="20000"/>
          </a:bodyPr>
          <a:lstStyle/>
          <a:p>
            <a:endParaRPr lang="en-CA" sz="3200" b="1" dirty="0">
              <a:latin typeface="Arial" panose="020B0604020202020204" pitchFamily="34" charset="0"/>
              <a:cs typeface="Arial" panose="020B0604020202020204" pitchFamily="34" charset="0"/>
            </a:endParaRPr>
          </a:p>
          <a:p>
            <a:endParaRPr lang="en-CA" sz="3200" b="1" dirty="0">
              <a:latin typeface="Arial" panose="020B0604020202020204" pitchFamily="34" charset="0"/>
              <a:cs typeface="Arial" panose="020B0604020202020204" pitchFamily="34" charset="0"/>
            </a:endParaRPr>
          </a:p>
          <a:p>
            <a:r>
              <a:rPr lang="en-CA" sz="3200" b="1" dirty="0">
                <a:solidFill>
                  <a:schemeClr val="tx1">
                    <a:lumMod val="95000"/>
                    <a:lumOff val="5000"/>
                  </a:schemeClr>
                </a:solidFill>
                <a:latin typeface="Arial" panose="020B0604020202020204" pitchFamily="34" charset="0"/>
                <a:cs typeface="Arial" panose="020B0604020202020204" pitchFamily="34" charset="0"/>
              </a:rPr>
              <a:t>Each level has its own hierarchical organizational structure: </a:t>
            </a:r>
          </a:p>
          <a:p>
            <a:r>
              <a:rPr lang="en-CA" sz="3200" b="1" dirty="0">
                <a:solidFill>
                  <a:schemeClr val="tx1">
                    <a:lumMod val="95000"/>
                    <a:lumOff val="5000"/>
                  </a:schemeClr>
                </a:solidFill>
                <a:latin typeface="Arial" panose="020B0604020202020204" pitchFamily="34" charset="0"/>
                <a:cs typeface="Arial" panose="020B0604020202020204" pitchFamily="34" charset="0"/>
              </a:rPr>
              <a:t>Federal</a:t>
            </a:r>
          </a:p>
          <a:p>
            <a:r>
              <a:rPr lang="en-CA" sz="3200" b="1" dirty="0">
                <a:solidFill>
                  <a:schemeClr val="tx1">
                    <a:lumMod val="95000"/>
                    <a:lumOff val="5000"/>
                  </a:schemeClr>
                </a:solidFill>
                <a:latin typeface="Arial" panose="020B0604020202020204" pitchFamily="34" charset="0"/>
                <a:cs typeface="Arial" panose="020B0604020202020204" pitchFamily="34" charset="0"/>
              </a:rPr>
              <a:t>Provincial </a:t>
            </a:r>
          </a:p>
          <a:p>
            <a:r>
              <a:rPr lang="en-CA" sz="3200" b="1" dirty="0">
                <a:solidFill>
                  <a:schemeClr val="tx1">
                    <a:lumMod val="95000"/>
                    <a:lumOff val="5000"/>
                  </a:schemeClr>
                </a:solidFill>
                <a:latin typeface="Arial" panose="020B0604020202020204" pitchFamily="34" charset="0"/>
                <a:cs typeface="Arial" panose="020B0604020202020204" pitchFamily="34" charset="0"/>
              </a:rPr>
              <a:t>Municipal </a:t>
            </a:r>
          </a:p>
          <a:p>
            <a:r>
              <a:rPr lang="en-CA" sz="3200" b="1" dirty="0">
                <a:latin typeface="Arial" panose="020B0604020202020204" pitchFamily="34" charset="0"/>
                <a:cs typeface="Arial" panose="020B0604020202020204" pitchFamily="34" charset="0"/>
              </a:rPr>
              <a:t>First Nations Police</a:t>
            </a:r>
          </a:p>
          <a:p>
            <a:endParaRPr lang="en-CA" sz="32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985262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CA" b="1" dirty="0">
                <a:latin typeface="Arial" panose="020B0604020202020204" pitchFamily="34" charset="0"/>
                <a:cs typeface="Arial" panose="020B0604020202020204" pitchFamily="34" charset="0"/>
              </a:rPr>
              <a:t>First Nations Police</a:t>
            </a:r>
            <a:endParaRPr lang="en-US"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Autofit/>
          </a:bodyPr>
          <a:lstStyle/>
          <a:p>
            <a:r>
              <a:rPr lang="en-CA" b="1" dirty="0">
                <a:latin typeface="Arial" panose="020B0604020202020204" pitchFamily="34" charset="0"/>
                <a:cs typeface="Arial" panose="020B0604020202020204" pitchFamily="34" charset="0"/>
              </a:rPr>
              <a:t>1960s federal government began to withdraw RCMP, OPP officers from the reserves.</a:t>
            </a:r>
          </a:p>
          <a:p>
            <a:r>
              <a:rPr lang="en-CA" b="1" dirty="0">
                <a:latin typeface="Arial" panose="020B0604020202020204" pitchFamily="34" charset="0"/>
                <a:cs typeface="Arial" panose="020B0604020202020204" pitchFamily="34" charset="0"/>
              </a:rPr>
              <a:t>The Canadian federal government created this police force as a </a:t>
            </a:r>
          </a:p>
          <a:p>
            <a:r>
              <a:rPr lang="en-CA" b="1" dirty="0">
                <a:latin typeface="Arial" panose="020B0604020202020204" pitchFamily="34" charset="0"/>
                <a:cs typeface="Arial" panose="020B0604020202020204" pitchFamily="34" charset="0"/>
              </a:rPr>
              <a:t>Response to the deaths of Indigenous people by police</a:t>
            </a:r>
          </a:p>
          <a:p>
            <a:r>
              <a:rPr lang="en-CA" b="1" dirty="0">
                <a:latin typeface="Arial" panose="020B0604020202020204" pitchFamily="34" charset="0"/>
                <a:cs typeface="Arial" panose="020B0604020202020204" pitchFamily="34" charset="0"/>
              </a:rPr>
              <a:t>Cultural sensitivity </a:t>
            </a:r>
          </a:p>
          <a:p>
            <a:r>
              <a:rPr lang="en-CA" b="1" dirty="0">
                <a:latin typeface="Arial" panose="020B0604020202020204" pitchFamily="34" charset="0"/>
                <a:cs typeface="Arial" panose="020B0604020202020204" pitchFamily="34" charset="0"/>
              </a:rPr>
              <a:t>1970s: “Indian Agents” </a:t>
            </a:r>
          </a:p>
          <a:p>
            <a:r>
              <a:rPr lang="en-CA" b="1" dirty="0">
                <a:latin typeface="Arial" panose="020B0604020202020204" pitchFamily="34" charset="0"/>
                <a:cs typeface="Arial" panose="020B0604020202020204" pitchFamily="34" charset="0"/>
              </a:rPr>
              <a:t>1970s-1980s: Indigenous communities established their own independent police services.</a:t>
            </a:r>
          </a:p>
          <a:p>
            <a:r>
              <a:rPr lang="en-CA" b="1" dirty="0">
                <a:latin typeface="Arial" panose="020B0604020202020204" pitchFamily="34" charset="0"/>
                <a:cs typeface="Arial" panose="020B0604020202020204" pitchFamily="34" charset="0"/>
              </a:rPr>
              <a:t>1981: “Ontario Indian Police Commission”</a:t>
            </a:r>
          </a:p>
          <a:p>
            <a:r>
              <a:rPr lang="en-CA" b="1" dirty="0">
                <a:latin typeface="Arial" panose="020B0604020202020204" pitchFamily="34" charset="0"/>
                <a:cs typeface="Arial" panose="020B0604020202020204" pitchFamily="34" charset="0"/>
              </a:rPr>
              <a:t>In 1992: the First Nation Police Association was established</a:t>
            </a:r>
          </a:p>
          <a:p>
            <a:r>
              <a:rPr lang="en-US" b="1" dirty="0">
                <a:latin typeface="Arial" panose="020B0604020202020204" pitchFamily="34" charset="0"/>
                <a:cs typeface="Arial" panose="020B0604020202020204" pitchFamily="34" charset="0"/>
              </a:rPr>
              <a:t>2010: 38 self-administered First Nation police services</a:t>
            </a:r>
          </a:p>
        </p:txBody>
      </p:sp>
    </p:spTree>
    <p:extLst>
      <p:ext uri="{BB962C8B-B14F-4D97-AF65-F5344CB8AC3E}">
        <p14:creationId xmlns:p14="http://schemas.microsoft.com/office/powerpoint/2010/main" val="26646393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B7A6D-22EF-4F39-88BB-2F1837152D67}"/>
              </a:ext>
            </a:extLst>
          </p:cNvPr>
          <p:cNvSpPr>
            <a:spLocks noGrp="1"/>
          </p:cNvSpPr>
          <p:nvPr>
            <p:ph type="title"/>
          </p:nvPr>
        </p:nvSpPr>
        <p:spPr/>
        <p:txBody>
          <a:bodyPr>
            <a:normAutofit/>
          </a:bodyPr>
          <a:lstStyle/>
          <a:p>
            <a:pPr algn="ctr"/>
            <a:r>
              <a:rPr lang="en-US" sz="3200" b="1" dirty="0">
                <a:latin typeface="Arial" panose="020B0604020202020204" pitchFamily="34" charset="0"/>
                <a:cs typeface="Arial" panose="020B0604020202020204" pitchFamily="34" charset="0"/>
              </a:rPr>
              <a:t>First Nation Police</a:t>
            </a:r>
            <a:endParaRPr lang="en-CA" sz="3200" b="1" dirty="0">
              <a:latin typeface="Arial" panose="020B0604020202020204" pitchFamily="34" charset="0"/>
              <a:cs typeface="Arial" panose="020B0604020202020204" pitchFamily="34" charset="0"/>
            </a:endParaRPr>
          </a:p>
        </p:txBody>
      </p:sp>
      <p:pic>
        <p:nvPicPr>
          <p:cNvPr id="2050" name="Picture 2" descr="Bold, Modern, Non Profit Logo Design for First Nations Police Governance  Council by JohnnyMacK | Design #17029514">
            <a:extLst>
              <a:ext uri="{FF2B5EF4-FFF2-40B4-BE49-F238E27FC236}">
                <a16:creationId xmlns:a16="http://schemas.microsoft.com/office/drawing/2014/main" id="{AB636F8A-BADA-4ECE-8D2E-A09AC6841FF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24336" y="2286000"/>
            <a:ext cx="4544008" cy="3788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58831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CA" sz="3200" b="1" dirty="0">
                <a:latin typeface="Arial" panose="020B0604020202020204" pitchFamily="34" charset="0"/>
                <a:cs typeface="Arial" panose="020B0604020202020204" pitchFamily="34" charset="0"/>
              </a:rPr>
              <a:t>Federal level</a:t>
            </a:r>
          </a:p>
        </p:txBody>
      </p:sp>
      <p:sp>
        <p:nvSpPr>
          <p:cNvPr id="3" name="Content Placeholder 2"/>
          <p:cNvSpPr>
            <a:spLocks noGrp="1"/>
          </p:cNvSpPr>
          <p:nvPr>
            <p:ph idx="1"/>
          </p:nvPr>
        </p:nvSpPr>
        <p:spPr/>
        <p:txBody>
          <a:bodyPr>
            <a:normAutofit/>
          </a:bodyPr>
          <a:lstStyle/>
          <a:p>
            <a:r>
              <a:rPr lang="en-CA" sz="2800" b="1" dirty="0">
                <a:solidFill>
                  <a:schemeClr val="tx1">
                    <a:lumMod val="95000"/>
                    <a:lumOff val="5000"/>
                  </a:schemeClr>
                </a:solidFill>
                <a:latin typeface="Arial" panose="020B0604020202020204" pitchFamily="34" charset="0"/>
                <a:cs typeface="Arial" panose="020B0604020202020204" pitchFamily="34" charset="0"/>
              </a:rPr>
              <a:t>Canadian Royal Mounted Police (RCMP) </a:t>
            </a:r>
          </a:p>
          <a:p>
            <a:r>
              <a:rPr lang="en-CA" sz="2800" b="1" dirty="0">
                <a:solidFill>
                  <a:schemeClr val="tx1">
                    <a:lumMod val="95000"/>
                    <a:lumOff val="5000"/>
                  </a:schemeClr>
                </a:solidFill>
                <a:latin typeface="Arial" panose="020B0604020202020204" pitchFamily="34" charset="0"/>
                <a:cs typeface="Arial" panose="020B0604020202020204" pitchFamily="34" charset="0"/>
              </a:rPr>
              <a:t>Canadian Forces Military Police</a:t>
            </a:r>
          </a:p>
          <a:p>
            <a:r>
              <a:rPr lang="en-CA" sz="2800" b="1" dirty="0">
                <a:solidFill>
                  <a:schemeClr val="tx1">
                    <a:lumMod val="95000"/>
                    <a:lumOff val="5000"/>
                  </a:schemeClr>
                </a:solidFill>
                <a:latin typeface="Arial" panose="020B0604020202020204" pitchFamily="34" charset="0"/>
                <a:cs typeface="Arial" panose="020B0604020202020204" pitchFamily="34" charset="0"/>
              </a:rPr>
              <a:t>CSIS (Canadian Security and Intelligence Service)</a:t>
            </a:r>
          </a:p>
          <a:p>
            <a:r>
              <a:rPr lang="en-CA" sz="2800" b="1" dirty="0">
                <a:solidFill>
                  <a:schemeClr val="tx1">
                    <a:lumMod val="95000"/>
                    <a:lumOff val="5000"/>
                  </a:schemeClr>
                </a:solidFill>
                <a:latin typeface="Arial" panose="020B0604020202020204" pitchFamily="34" charset="0"/>
                <a:cs typeface="Arial" panose="020B0604020202020204" pitchFamily="34" charset="0"/>
              </a:rPr>
              <a:t>Border Agency</a:t>
            </a:r>
          </a:p>
        </p:txBody>
      </p:sp>
    </p:spTree>
    <p:extLst>
      <p:ext uri="{BB962C8B-B14F-4D97-AF65-F5344CB8AC3E}">
        <p14:creationId xmlns:p14="http://schemas.microsoft.com/office/powerpoint/2010/main" val="11272091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CA" sz="4000" b="1" dirty="0">
                <a:latin typeface="Arial" panose="020B0604020202020204" pitchFamily="34" charset="0"/>
                <a:cs typeface="Arial" panose="020B0604020202020204" pitchFamily="34" charset="0"/>
              </a:rPr>
              <a:t>Canadian security and Intelligence Service (</a:t>
            </a:r>
            <a:r>
              <a:rPr lang="en-CA" sz="4000" b="1" dirty="0">
                <a:solidFill>
                  <a:schemeClr val="tx1">
                    <a:lumMod val="95000"/>
                    <a:lumOff val="5000"/>
                  </a:schemeClr>
                </a:solidFill>
                <a:latin typeface="Arial" panose="020B0604020202020204" pitchFamily="34" charset="0"/>
                <a:cs typeface="Arial" panose="020B0604020202020204" pitchFamily="34" charset="0"/>
              </a:rPr>
              <a:t>CSIS)</a:t>
            </a:r>
            <a:br>
              <a:rPr lang="en-CA" sz="4000" b="1" dirty="0">
                <a:solidFill>
                  <a:schemeClr val="tx1">
                    <a:lumMod val="95000"/>
                    <a:lumOff val="5000"/>
                  </a:schemeClr>
                </a:solidFill>
                <a:latin typeface="Arial" panose="020B0604020202020204" pitchFamily="34" charset="0"/>
                <a:cs typeface="Arial" panose="020B0604020202020204" pitchFamily="34" charset="0"/>
              </a:rPr>
            </a:br>
            <a:r>
              <a:rPr lang="en-CA" sz="3200" b="1" dirty="0">
                <a:latin typeface="Arial" panose="020B0604020202020204" pitchFamily="34" charset="0"/>
                <a:cs typeface="Arial" panose="020B0604020202020204" pitchFamily="34" charset="0"/>
              </a:rPr>
              <a:t> </a:t>
            </a:r>
          </a:p>
        </p:txBody>
      </p:sp>
      <p:sp>
        <p:nvSpPr>
          <p:cNvPr id="3" name="Content Placeholder 2"/>
          <p:cNvSpPr>
            <a:spLocks noGrp="1"/>
          </p:cNvSpPr>
          <p:nvPr>
            <p:ph idx="1"/>
          </p:nvPr>
        </p:nvSpPr>
        <p:spPr/>
        <p:txBody>
          <a:bodyPr>
            <a:normAutofit fontScale="92500" lnSpcReduction="20000"/>
          </a:bodyPr>
          <a:lstStyle/>
          <a:p>
            <a:r>
              <a:rPr lang="en-CA" sz="3000" b="1" dirty="0">
                <a:solidFill>
                  <a:schemeClr val="tx1">
                    <a:lumMod val="95000"/>
                    <a:lumOff val="5000"/>
                  </a:schemeClr>
                </a:solidFill>
                <a:latin typeface="Arial" panose="020B0604020202020204" pitchFamily="34" charset="0"/>
                <a:cs typeface="Arial" panose="020B0604020202020204" pitchFamily="34" charset="0"/>
              </a:rPr>
              <a:t>National security</a:t>
            </a:r>
          </a:p>
          <a:p>
            <a:r>
              <a:rPr lang="en-CA" sz="3000" b="1" dirty="0">
                <a:solidFill>
                  <a:schemeClr val="tx1">
                    <a:lumMod val="95000"/>
                    <a:lumOff val="5000"/>
                  </a:schemeClr>
                </a:solidFill>
                <a:latin typeface="Arial" panose="020B0604020202020204" pitchFamily="34" charset="0"/>
                <a:cs typeface="Arial" panose="020B0604020202020204" pitchFamily="34" charset="0"/>
              </a:rPr>
              <a:t>Intelligence gathering</a:t>
            </a:r>
          </a:p>
          <a:p>
            <a:r>
              <a:rPr lang="en-CA" sz="3000" b="1" dirty="0">
                <a:solidFill>
                  <a:schemeClr val="tx1">
                    <a:lumMod val="95000"/>
                    <a:lumOff val="5000"/>
                  </a:schemeClr>
                </a:solidFill>
                <a:latin typeface="Arial" panose="020B0604020202020204" pitchFamily="34" charset="0"/>
                <a:cs typeface="Arial" panose="020B0604020202020204" pitchFamily="34" charset="0"/>
              </a:rPr>
              <a:t>Security screening</a:t>
            </a:r>
          </a:p>
          <a:p>
            <a:r>
              <a:rPr lang="en-CA" sz="3000" b="1" dirty="0">
                <a:solidFill>
                  <a:schemeClr val="tx1">
                    <a:lumMod val="95000"/>
                    <a:lumOff val="5000"/>
                  </a:schemeClr>
                </a:solidFill>
                <a:latin typeface="Arial" panose="020B0604020202020204" pitchFamily="34" charset="0"/>
                <a:cs typeface="Arial" panose="020B0604020202020204" pitchFamily="34" charset="0"/>
              </a:rPr>
              <a:t>Intelligence Sharing</a:t>
            </a:r>
          </a:p>
          <a:p>
            <a:r>
              <a:rPr lang="en-CA" sz="3000" b="1" dirty="0">
                <a:solidFill>
                  <a:schemeClr val="tx1">
                    <a:lumMod val="95000"/>
                    <a:lumOff val="5000"/>
                  </a:schemeClr>
                </a:solidFill>
                <a:latin typeface="Arial" panose="020B0604020202020204" pitchFamily="34" charset="0"/>
                <a:cs typeface="Arial" panose="020B0604020202020204" pitchFamily="34" charset="0"/>
              </a:rPr>
              <a:t>Investigating threats</a:t>
            </a:r>
          </a:p>
          <a:p>
            <a:r>
              <a:rPr lang="en-CA" sz="3000" b="1" dirty="0">
                <a:solidFill>
                  <a:schemeClr val="tx1">
                    <a:lumMod val="95000"/>
                    <a:lumOff val="5000"/>
                  </a:schemeClr>
                </a:solidFill>
                <a:latin typeface="Arial" panose="020B0604020202020204" pitchFamily="34" charset="0"/>
                <a:cs typeface="Arial" panose="020B0604020202020204" pitchFamily="34" charset="0"/>
              </a:rPr>
              <a:t>Report to Political Government</a:t>
            </a:r>
          </a:p>
          <a:p>
            <a:r>
              <a:rPr lang="en-CA" sz="3000" b="1" dirty="0">
                <a:solidFill>
                  <a:schemeClr val="tx1">
                    <a:lumMod val="95000"/>
                    <a:lumOff val="5000"/>
                  </a:schemeClr>
                </a:solidFill>
                <a:latin typeface="Arial" panose="020B0604020202020204" pitchFamily="34" charset="0"/>
                <a:cs typeface="Arial" panose="020B0604020202020204" pitchFamily="34" charset="0"/>
              </a:rPr>
              <a:t>Cooperation with other policing agencies  </a:t>
            </a:r>
          </a:p>
          <a:p>
            <a:endParaRPr lang="en-CA" dirty="0"/>
          </a:p>
        </p:txBody>
      </p:sp>
    </p:spTree>
    <p:extLst>
      <p:ext uri="{BB962C8B-B14F-4D97-AF65-F5344CB8AC3E}">
        <p14:creationId xmlns:p14="http://schemas.microsoft.com/office/powerpoint/2010/main" val="2380005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CA" b="1" dirty="0">
                <a:solidFill>
                  <a:schemeClr val="tx1">
                    <a:lumMod val="95000"/>
                    <a:lumOff val="5000"/>
                  </a:schemeClr>
                </a:solidFill>
                <a:latin typeface="Arial" panose="020B0604020202020204" pitchFamily="34" charset="0"/>
                <a:cs typeface="Arial" panose="020B0604020202020204" pitchFamily="34" charset="0"/>
              </a:rPr>
              <a:t>Canadian Royal Mounted Police (</a:t>
            </a:r>
            <a:r>
              <a:rPr lang="en-CA" b="1" dirty="0">
                <a:latin typeface="Arial" panose="020B0604020202020204" pitchFamily="34" charset="0"/>
                <a:cs typeface="Arial" panose="020B0604020202020204" pitchFamily="34" charset="0"/>
              </a:rPr>
              <a:t>RCMP)</a:t>
            </a:r>
          </a:p>
        </p:txBody>
      </p:sp>
      <p:sp>
        <p:nvSpPr>
          <p:cNvPr id="3" name="Content Placeholder 2"/>
          <p:cNvSpPr>
            <a:spLocks noGrp="1"/>
          </p:cNvSpPr>
          <p:nvPr>
            <p:ph idx="1"/>
          </p:nvPr>
        </p:nvSpPr>
        <p:spPr/>
        <p:txBody>
          <a:bodyPr>
            <a:normAutofit/>
          </a:bodyPr>
          <a:lstStyle/>
          <a:p>
            <a:r>
              <a:rPr lang="en-CA" sz="2800" b="1" dirty="0">
                <a:latin typeface="Arial" panose="020B0604020202020204" pitchFamily="34" charset="0"/>
                <a:cs typeface="Arial" panose="020B0604020202020204" pitchFamily="34" charset="0"/>
              </a:rPr>
              <a:t>15 divisions </a:t>
            </a:r>
          </a:p>
          <a:p>
            <a:r>
              <a:rPr lang="en-CA" sz="2800" b="1" dirty="0">
                <a:latin typeface="Arial" panose="020B0604020202020204" pitchFamily="34" charset="0"/>
                <a:cs typeface="Arial" panose="020B0604020202020204" pitchFamily="34" charset="0"/>
              </a:rPr>
              <a:t>Operates across the country</a:t>
            </a:r>
          </a:p>
          <a:p>
            <a:r>
              <a:rPr lang="en-CA" sz="2800" b="1" dirty="0">
                <a:latin typeface="Arial" panose="020B0604020202020204" pitchFamily="34" charset="0"/>
                <a:cs typeface="Arial" panose="020B0604020202020204" pitchFamily="34" charset="0"/>
              </a:rPr>
              <a:t>Draws on provincial police forces </a:t>
            </a:r>
          </a:p>
          <a:p>
            <a:r>
              <a:rPr lang="en-CA" sz="2800" b="1" dirty="0">
                <a:latin typeface="Arial" panose="020B0604020202020204" pitchFamily="34" charset="0"/>
                <a:cs typeface="Arial" panose="020B0604020202020204" pitchFamily="34" charset="0"/>
              </a:rPr>
              <a:t>All levels of law enforcement </a:t>
            </a:r>
          </a:p>
        </p:txBody>
      </p:sp>
    </p:spTree>
    <p:extLst>
      <p:ext uri="{BB962C8B-B14F-4D97-AF65-F5344CB8AC3E}">
        <p14:creationId xmlns:p14="http://schemas.microsoft.com/office/powerpoint/2010/main" val="13533821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CA" b="1" dirty="0">
                <a:latin typeface="Arial" panose="020B0604020202020204" pitchFamily="34" charset="0"/>
                <a:cs typeface="Arial" panose="020B0604020202020204" pitchFamily="34" charset="0"/>
              </a:rPr>
              <a:t>Canada Border Services Agency (</a:t>
            </a:r>
            <a:r>
              <a:rPr lang="en-CA" b="1" dirty="0">
                <a:solidFill>
                  <a:schemeClr val="tx1">
                    <a:lumMod val="95000"/>
                    <a:lumOff val="5000"/>
                  </a:schemeClr>
                </a:solidFill>
                <a:latin typeface="Arial" panose="020B0604020202020204" pitchFamily="34" charset="0"/>
                <a:cs typeface="Arial" panose="020B0604020202020204" pitchFamily="34" charset="0"/>
              </a:rPr>
              <a:t>CBSA)</a:t>
            </a:r>
            <a:endParaRPr lang="en-CA"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endParaRPr lang="en-CA" sz="2400" b="1" dirty="0">
              <a:solidFill>
                <a:schemeClr val="tx1">
                  <a:lumMod val="95000"/>
                  <a:lumOff val="5000"/>
                </a:schemeClr>
              </a:solidFill>
              <a:latin typeface="Arial" panose="020B0604020202020204" pitchFamily="34" charset="0"/>
              <a:cs typeface="Arial" panose="020B0604020202020204" pitchFamily="34" charset="0"/>
            </a:endParaRPr>
          </a:p>
          <a:p>
            <a:r>
              <a:rPr lang="en-CA" sz="2400" b="1" dirty="0">
                <a:solidFill>
                  <a:schemeClr val="tx1">
                    <a:lumMod val="95000"/>
                    <a:lumOff val="5000"/>
                  </a:schemeClr>
                </a:solidFill>
                <a:latin typeface="Arial" panose="020B0604020202020204" pitchFamily="34" charset="0"/>
                <a:cs typeface="Arial" panose="020B0604020202020204" pitchFamily="34" charset="0"/>
              </a:rPr>
              <a:t>Border Watch</a:t>
            </a:r>
          </a:p>
          <a:p>
            <a:endParaRPr lang="en-CA" sz="2400" b="1" dirty="0">
              <a:solidFill>
                <a:schemeClr val="tx1">
                  <a:lumMod val="95000"/>
                  <a:lumOff val="5000"/>
                </a:schemeClr>
              </a:solidFill>
              <a:latin typeface="Arial" panose="020B0604020202020204" pitchFamily="34" charset="0"/>
              <a:cs typeface="Arial" panose="020B0604020202020204" pitchFamily="34" charset="0"/>
            </a:endParaRPr>
          </a:p>
          <a:p>
            <a:r>
              <a:rPr lang="en-CA" sz="2400" b="1" dirty="0">
                <a:solidFill>
                  <a:schemeClr val="tx1">
                    <a:lumMod val="95000"/>
                    <a:lumOff val="5000"/>
                  </a:schemeClr>
                </a:solidFill>
                <a:latin typeface="Arial" panose="020B0604020202020204" pitchFamily="34" charset="0"/>
                <a:cs typeface="Arial" panose="020B0604020202020204" pitchFamily="34" charset="0"/>
              </a:rPr>
              <a:t>Immigration</a:t>
            </a:r>
          </a:p>
          <a:p>
            <a:endParaRPr lang="en-CA" sz="2400" b="1" dirty="0">
              <a:solidFill>
                <a:schemeClr val="tx1">
                  <a:lumMod val="95000"/>
                  <a:lumOff val="5000"/>
                </a:schemeClr>
              </a:solidFill>
              <a:latin typeface="Arial" panose="020B0604020202020204" pitchFamily="34" charset="0"/>
              <a:cs typeface="Arial" panose="020B0604020202020204" pitchFamily="34" charset="0"/>
            </a:endParaRPr>
          </a:p>
          <a:p>
            <a:r>
              <a:rPr lang="en-CA" sz="2400" b="1" dirty="0">
                <a:solidFill>
                  <a:schemeClr val="tx1">
                    <a:lumMod val="95000"/>
                    <a:lumOff val="5000"/>
                  </a:schemeClr>
                </a:solidFill>
                <a:latin typeface="Arial" panose="020B0604020202020204" pitchFamily="34" charset="0"/>
                <a:cs typeface="Arial" panose="020B0604020202020204" pitchFamily="34" charset="0"/>
              </a:rPr>
              <a:t>Control of Goods and Services </a:t>
            </a:r>
          </a:p>
        </p:txBody>
      </p:sp>
    </p:spTree>
    <p:extLst>
      <p:ext uri="{BB962C8B-B14F-4D97-AF65-F5344CB8AC3E}">
        <p14:creationId xmlns:p14="http://schemas.microsoft.com/office/powerpoint/2010/main" val="6657430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CA" b="1" dirty="0">
                <a:latin typeface="Arial" panose="020B0604020202020204" pitchFamily="34" charset="0"/>
                <a:cs typeface="Arial" panose="020B0604020202020204" pitchFamily="34" charset="0"/>
              </a:rPr>
              <a:t>Provincial or Regional Police </a:t>
            </a:r>
          </a:p>
        </p:txBody>
      </p:sp>
      <p:sp>
        <p:nvSpPr>
          <p:cNvPr id="3" name="Content Placeholder 2"/>
          <p:cNvSpPr>
            <a:spLocks noGrp="1"/>
          </p:cNvSpPr>
          <p:nvPr>
            <p:ph idx="1"/>
          </p:nvPr>
        </p:nvSpPr>
        <p:spPr/>
        <p:txBody>
          <a:bodyPr>
            <a:normAutofit fontScale="92500" lnSpcReduction="10000"/>
          </a:bodyPr>
          <a:lstStyle/>
          <a:p>
            <a:endParaRPr lang="en-CA" sz="2400" b="1" dirty="0">
              <a:latin typeface="Arial" panose="020B0604020202020204" pitchFamily="34" charset="0"/>
              <a:cs typeface="Arial" panose="020B0604020202020204" pitchFamily="34" charset="0"/>
            </a:endParaRPr>
          </a:p>
          <a:p>
            <a:endParaRPr lang="en-CA" sz="2400" b="1" dirty="0">
              <a:latin typeface="Arial" panose="020B0604020202020204" pitchFamily="34" charset="0"/>
              <a:cs typeface="Arial" panose="020B0604020202020204" pitchFamily="34" charset="0"/>
            </a:endParaRPr>
          </a:p>
          <a:p>
            <a:r>
              <a:rPr lang="en-CA" sz="3200" b="1" dirty="0">
                <a:solidFill>
                  <a:schemeClr val="tx1">
                    <a:lumMod val="95000"/>
                    <a:lumOff val="5000"/>
                  </a:schemeClr>
                </a:solidFill>
                <a:latin typeface="Arial" panose="020B0604020202020204" pitchFamily="34" charset="0"/>
                <a:cs typeface="Arial" panose="020B0604020202020204" pitchFamily="34" charset="0"/>
              </a:rPr>
              <a:t>Ontario, Quebec, Newfoundland, </a:t>
            </a:r>
          </a:p>
          <a:p>
            <a:r>
              <a:rPr lang="en-CA" sz="3200" b="1" dirty="0">
                <a:solidFill>
                  <a:schemeClr val="tx1">
                    <a:lumMod val="95000"/>
                    <a:lumOff val="5000"/>
                  </a:schemeClr>
                </a:solidFill>
                <a:latin typeface="Arial" panose="020B0604020202020204" pitchFamily="34" charset="0"/>
                <a:cs typeface="Arial" panose="020B0604020202020204" pitchFamily="34" charset="0"/>
              </a:rPr>
              <a:t>Enforcement of Provincial laws and the Criminal Code of Canada</a:t>
            </a:r>
          </a:p>
          <a:p>
            <a:r>
              <a:rPr lang="en-CA" sz="3200" b="1" dirty="0">
                <a:solidFill>
                  <a:schemeClr val="tx1">
                    <a:lumMod val="95000"/>
                    <a:lumOff val="5000"/>
                  </a:schemeClr>
                </a:solidFill>
                <a:latin typeface="Arial" panose="020B0604020202020204" pitchFamily="34" charset="0"/>
                <a:cs typeface="Arial" panose="020B0604020202020204" pitchFamily="34" charset="0"/>
              </a:rPr>
              <a:t>Regional Police: Amalgamation of several independent police departments </a:t>
            </a:r>
          </a:p>
          <a:p>
            <a:endParaRPr lang="en-CA" sz="2400" b="1" dirty="0">
              <a:solidFill>
                <a:schemeClr val="tx1">
                  <a:lumMod val="95000"/>
                  <a:lumOff val="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202983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CA" b="1" dirty="0">
                <a:latin typeface="Arial" panose="020B0604020202020204" pitchFamily="34" charset="0"/>
                <a:cs typeface="Arial" panose="020B0604020202020204" pitchFamily="34" charset="0"/>
              </a:rPr>
              <a:t>Municipal Police </a:t>
            </a:r>
          </a:p>
        </p:txBody>
      </p:sp>
      <p:sp>
        <p:nvSpPr>
          <p:cNvPr id="3" name="Content Placeholder 2"/>
          <p:cNvSpPr>
            <a:spLocks noGrp="1"/>
          </p:cNvSpPr>
          <p:nvPr>
            <p:ph idx="1"/>
          </p:nvPr>
        </p:nvSpPr>
        <p:spPr/>
        <p:txBody>
          <a:bodyPr>
            <a:noAutofit/>
          </a:bodyPr>
          <a:lstStyle/>
          <a:p>
            <a:r>
              <a:rPr lang="en-CA" sz="2400" b="1" dirty="0">
                <a:solidFill>
                  <a:schemeClr val="tx1">
                    <a:lumMod val="95000"/>
                    <a:lumOff val="5000"/>
                  </a:schemeClr>
                </a:solidFill>
                <a:latin typeface="Arial" panose="020B0604020202020204" pitchFamily="34" charset="0"/>
                <a:cs typeface="Arial" panose="020B0604020202020204" pitchFamily="34" charset="0"/>
              </a:rPr>
              <a:t>Toronto police more than 5000 officers</a:t>
            </a:r>
          </a:p>
          <a:p>
            <a:r>
              <a:rPr lang="en-CA" sz="2400" b="1" dirty="0">
                <a:solidFill>
                  <a:schemeClr val="tx1">
                    <a:lumMod val="95000"/>
                    <a:lumOff val="5000"/>
                  </a:schemeClr>
                </a:solidFill>
                <a:latin typeface="Arial" panose="020B0604020202020204" pitchFamily="34" charset="0"/>
                <a:cs typeface="Arial" panose="020B0604020202020204" pitchFamily="34" charset="0"/>
              </a:rPr>
              <a:t>Tasks:</a:t>
            </a:r>
          </a:p>
          <a:p>
            <a:r>
              <a:rPr lang="en-CA" sz="2400" b="1" dirty="0">
                <a:solidFill>
                  <a:schemeClr val="tx1">
                    <a:lumMod val="95000"/>
                    <a:lumOff val="5000"/>
                  </a:schemeClr>
                </a:solidFill>
                <a:latin typeface="Arial" panose="020B0604020202020204" pitchFamily="34" charset="0"/>
                <a:cs typeface="Arial" panose="020B0604020202020204" pitchFamily="34" charset="0"/>
              </a:rPr>
              <a:t>Maintain order</a:t>
            </a:r>
          </a:p>
          <a:p>
            <a:r>
              <a:rPr lang="en-CA" sz="2400" b="1" dirty="0">
                <a:solidFill>
                  <a:schemeClr val="tx1">
                    <a:lumMod val="95000"/>
                    <a:lumOff val="5000"/>
                  </a:schemeClr>
                </a:solidFill>
                <a:latin typeface="Arial" panose="020B0604020202020204" pitchFamily="34" charset="0"/>
                <a:cs typeface="Arial" panose="020B0604020202020204" pitchFamily="34" charset="0"/>
              </a:rPr>
              <a:t>Prevent crime</a:t>
            </a:r>
          </a:p>
          <a:p>
            <a:r>
              <a:rPr lang="en-CA" sz="2400" b="1" dirty="0">
                <a:solidFill>
                  <a:schemeClr val="tx1">
                    <a:lumMod val="95000"/>
                    <a:lumOff val="5000"/>
                  </a:schemeClr>
                </a:solidFill>
                <a:latin typeface="Arial" panose="020B0604020202020204" pitchFamily="34" charset="0"/>
                <a:cs typeface="Arial" panose="020B0604020202020204" pitchFamily="34" charset="0"/>
              </a:rPr>
              <a:t>Enforcing fed. Laws such as Criminal Code of Canada, provincial and city by-laws</a:t>
            </a:r>
          </a:p>
          <a:p>
            <a:r>
              <a:rPr lang="en-CA" sz="2400" b="1" dirty="0">
                <a:solidFill>
                  <a:schemeClr val="tx1">
                    <a:lumMod val="95000"/>
                    <a:lumOff val="5000"/>
                  </a:schemeClr>
                </a:solidFill>
                <a:latin typeface="Arial" panose="020B0604020202020204" pitchFamily="34" charset="0"/>
                <a:cs typeface="Arial" panose="020B0604020202020204" pitchFamily="34" charset="0"/>
              </a:rPr>
              <a:t>Investigate crimes: evidence gathering (evidence based policing) </a:t>
            </a:r>
          </a:p>
          <a:p>
            <a:r>
              <a:rPr lang="en-CA" sz="2400" b="1" dirty="0">
                <a:solidFill>
                  <a:schemeClr val="tx1">
                    <a:lumMod val="95000"/>
                    <a:lumOff val="5000"/>
                  </a:schemeClr>
                </a:solidFill>
                <a:latin typeface="Arial" panose="020B0604020202020204" pitchFamily="34" charset="0"/>
                <a:cs typeface="Arial" panose="020B0604020202020204" pitchFamily="34" charset="0"/>
              </a:rPr>
              <a:t>Search and rescue</a:t>
            </a:r>
          </a:p>
        </p:txBody>
      </p:sp>
    </p:spTree>
    <p:extLst>
      <p:ext uri="{BB962C8B-B14F-4D97-AF65-F5344CB8AC3E}">
        <p14:creationId xmlns:p14="http://schemas.microsoft.com/office/powerpoint/2010/main" val="34969097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F831C-F6E4-416D-9B54-05A965FD044E}"/>
              </a:ext>
            </a:extLst>
          </p:cNvPr>
          <p:cNvSpPr>
            <a:spLocks noGrp="1"/>
          </p:cNvSpPr>
          <p:nvPr>
            <p:ph type="title"/>
          </p:nvPr>
        </p:nvSpPr>
        <p:spPr/>
        <p:txBody>
          <a:bodyPr>
            <a:normAutofit/>
          </a:bodyPr>
          <a:lstStyle/>
          <a:p>
            <a:pPr algn="ctr"/>
            <a:r>
              <a:rPr lang="en-CA" sz="3200" b="1" dirty="0">
                <a:latin typeface="Arial" panose="020B0604020202020204" pitchFamily="34" charset="0"/>
                <a:cs typeface="Arial" panose="020B0604020202020204" pitchFamily="34" charset="0"/>
              </a:rPr>
              <a:t>Overall Goals of ‘The Police’</a:t>
            </a:r>
            <a:endParaRPr lang="en-CA" sz="3200" dirty="0"/>
          </a:p>
        </p:txBody>
      </p:sp>
      <p:sp>
        <p:nvSpPr>
          <p:cNvPr id="3" name="Content Placeholder 2">
            <a:extLst>
              <a:ext uri="{FF2B5EF4-FFF2-40B4-BE49-F238E27FC236}">
                <a16:creationId xmlns:a16="http://schemas.microsoft.com/office/drawing/2014/main" id="{7189A9A6-F1FB-4B9D-AE05-6B3ABCC61333}"/>
              </a:ext>
            </a:extLst>
          </p:cNvPr>
          <p:cNvSpPr>
            <a:spLocks noGrp="1"/>
          </p:cNvSpPr>
          <p:nvPr>
            <p:ph idx="1"/>
          </p:nvPr>
        </p:nvSpPr>
        <p:spPr/>
        <p:txBody>
          <a:bodyPr>
            <a:normAutofit fontScale="92500" lnSpcReduction="20000"/>
          </a:bodyPr>
          <a:lstStyle/>
          <a:p>
            <a:r>
              <a:rPr lang="en-US" sz="2400" b="1" dirty="0">
                <a:latin typeface="Arial" panose="020B0604020202020204" pitchFamily="34" charset="0"/>
                <a:cs typeface="Arial" panose="020B0604020202020204" pitchFamily="34" charset="0"/>
              </a:rPr>
              <a:t>The tasks include: </a:t>
            </a:r>
          </a:p>
          <a:p>
            <a:r>
              <a:rPr lang="en-US" sz="2400" b="1" dirty="0">
                <a:latin typeface="Arial" panose="020B0604020202020204" pitchFamily="34" charset="0"/>
                <a:cs typeface="Arial" panose="020B0604020202020204" pitchFamily="34" charset="0"/>
              </a:rPr>
              <a:t>Maintaining public order and safety</a:t>
            </a:r>
          </a:p>
          <a:p>
            <a:r>
              <a:rPr lang="en-US" sz="2400" b="1" dirty="0">
                <a:latin typeface="Arial" panose="020B0604020202020204" pitchFamily="34" charset="0"/>
                <a:cs typeface="Arial" panose="020B0604020202020204" pitchFamily="34" charset="0"/>
              </a:rPr>
              <a:t>Responding to emergencies</a:t>
            </a:r>
          </a:p>
          <a:p>
            <a:r>
              <a:rPr lang="en-US" sz="2400" b="1" dirty="0">
                <a:latin typeface="Arial" panose="020B0604020202020204" pitchFamily="34" charset="0"/>
                <a:cs typeface="Arial" panose="020B0604020202020204" pitchFamily="34" charset="0"/>
              </a:rPr>
              <a:t>Preventing, detecting and investigating what has been defined illegal or criminal activities</a:t>
            </a:r>
          </a:p>
          <a:p>
            <a:r>
              <a:rPr lang="en-US" sz="2400" b="1" dirty="0">
                <a:latin typeface="Arial" panose="020B0604020202020204" pitchFamily="34" charset="0"/>
                <a:cs typeface="Arial" panose="020B0604020202020204" pitchFamily="34" charset="0"/>
              </a:rPr>
              <a:t>Protection from harm</a:t>
            </a:r>
          </a:p>
          <a:p>
            <a:r>
              <a:rPr lang="en-US" sz="2400" b="1" dirty="0">
                <a:latin typeface="Arial" panose="020B0604020202020204" pitchFamily="34" charset="0"/>
                <a:cs typeface="Arial" panose="020B0604020202020204" pitchFamily="34" charset="0"/>
              </a:rPr>
              <a:t>Surveillance </a:t>
            </a:r>
          </a:p>
          <a:p>
            <a:r>
              <a:rPr lang="en-US" sz="2400" b="1" dirty="0">
                <a:latin typeface="Arial" panose="020B0604020202020204" pitchFamily="34" charset="0"/>
                <a:cs typeface="Arial" panose="020B0604020202020204" pitchFamily="34" charset="0"/>
              </a:rPr>
              <a:t>Knowledge production and data collection </a:t>
            </a:r>
          </a:p>
          <a:p>
            <a:r>
              <a:rPr lang="en-US" sz="2400" b="1" dirty="0">
                <a:latin typeface="Arial" panose="020B0604020202020204" pitchFamily="34" charset="0"/>
                <a:cs typeface="Arial" panose="020B0604020202020204" pitchFamily="34" charset="0"/>
              </a:rPr>
              <a:t>Risk assessments </a:t>
            </a:r>
          </a:p>
          <a:p>
            <a:endParaRPr lang="en-CA" dirty="0"/>
          </a:p>
        </p:txBody>
      </p:sp>
    </p:spTree>
    <p:extLst>
      <p:ext uri="{BB962C8B-B14F-4D97-AF65-F5344CB8AC3E}">
        <p14:creationId xmlns:p14="http://schemas.microsoft.com/office/powerpoint/2010/main" val="14256090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599D6-B0CB-464E-8537-7F276CE4D629}"/>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16FAA414-04C4-45F8-9CE4-3E6475D47D61}"/>
              </a:ext>
            </a:extLst>
          </p:cNvPr>
          <p:cNvSpPr>
            <a:spLocks noGrp="1"/>
          </p:cNvSpPr>
          <p:nvPr>
            <p:ph idx="1"/>
          </p:nvPr>
        </p:nvSpPr>
        <p:spPr/>
        <p:txBody>
          <a:bodyPr>
            <a:normAutofit/>
          </a:bodyPr>
          <a:lstStyle/>
          <a:p>
            <a:pPr algn="ctr"/>
            <a:r>
              <a:rPr lang="en-US" sz="3600" b="1" dirty="0">
                <a:latin typeface="Arial" panose="020B0604020202020204" pitchFamily="34" charset="0"/>
                <a:cs typeface="Arial" panose="020B0604020202020204" pitchFamily="34" charset="0"/>
              </a:rPr>
              <a:t>These broad responsibilities have undergone some historical shifts </a:t>
            </a:r>
            <a:endParaRPr lang="en-CA" sz="36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741477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CA" b="1" dirty="0">
                <a:solidFill>
                  <a:schemeClr val="tx1"/>
                </a:solidFill>
                <a:latin typeface="Arial" panose="020B0604020202020204" pitchFamily="34" charset="0"/>
                <a:cs typeface="Arial" panose="020B0604020202020204" pitchFamily="34" charset="0"/>
              </a:rPr>
              <a:t>1950s and 1960s</a:t>
            </a:r>
            <a:br>
              <a:rPr lang="en-CA" sz="3200" b="1" dirty="0">
                <a:solidFill>
                  <a:schemeClr val="tx1"/>
                </a:solidFill>
                <a:latin typeface="Arial" panose="020B0604020202020204" pitchFamily="34" charset="0"/>
                <a:cs typeface="Arial" panose="020B0604020202020204" pitchFamily="34" charset="0"/>
              </a:rPr>
            </a:br>
            <a:endParaRPr lang="en-US" sz="3200" dirty="0"/>
          </a:p>
        </p:txBody>
      </p:sp>
      <p:sp>
        <p:nvSpPr>
          <p:cNvPr id="3" name="Content Placeholder 2"/>
          <p:cNvSpPr>
            <a:spLocks noGrp="1"/>
          </p:cNvSpPr>
          <p:nvPr>
            <p:ph idx="1"/>
          </p:nvPr>
        </p:nvSpPr>
        <p:spPr/>
        <p:txBody>
          <a:bodyPr>
            <a:normAutofit/>
          </a:bodyPr>
          <a:lstStyle/>
          <a:p>
            <a:r>
              <a:rPr lang="en-CA" sz="2400" b="1" dirty="0">
                <a:solidFill>
                  <a:schemeClr val="tx1"/>
                </a:solidFill>
                <a:latin typeface="Arial" panose="020B0604020202020204" pitchFamily="34" charset="0"/>
                <a:cs typeface="Arial" panose="020B0604020202020204" pitchFamily="34" charset="0"/>
              </a:rPr>
              <a:t>Prevention as a form of crime control</a:t>
            </a:r>
          </a:p>
          <a:p>
            <a:r>
              <a:rPr lang="en-CA" sz="2400" b="1" dirty="0">
                <a:solidFill>
                  <a:schemeClr val="tx1"/>
                </a:solidFill>
                <a:latin typeface="Arial" panose="020B0604020202020204" pitchFamily="34" charset="0"/>
                <a:cs typeface="Arial" panose="020B0604020202020204" pitchFamily="34" charset="0"/>
              </a:rPr>
              <a:t>Law enforcement: an enforcement of moral and political values</a:t>
            </a:r>
          </a:p>
          <a:p>
            <a:r>
              <a:rPr lang="en-CA" sz="2400" b="1" dirty="0">
                <a:solidFill>
                  <a:schemeClr val="tx1"/>
                </a:solidFill>
                <a:latin typeface="Arial" panose="020B0604020202020204" pitchFamily="34" charset="0"/>
                <a:cs typeface="Arial" panose="020B0604020202020204" pitchFamily="34" charset="0"/>
              </a:rPr>
              <a:t>Ideas: ‘enemy within’; e.g. political dissidents and some racialized ‘others’ were portrayed as enemies</a:t>
            </a:r>
          </a:p>
          <a:p>
            <a:r>
              <a:rPr lang="en-CA" sz="2400" b="1" dirty="0">
                <a:solidFill>
                  <a:schemeClr val="tx1"/>
                </a:solidFill>
                <a:latin typeface="Arial" panose="020B0604020202020204" pitchFamily="34" charset="0"/>
                <a:cs typeface="Arial" panose="020B0604020202020204" pitchFamily="34" charset="0"/>
              </a:rPr>
              <a:t>Policing around moral deviancy and poverty related crimes: prostitution, vagrancy</a:t>
            </a:r>
          </a:p>
          <a:p>
            <a:r>
              <a:rPr lang="en-CA" sz="2400" b="1" dirty="0">
                <a:solidFill>
                  <a:schemeClr val="tx1"/>
                </a:solidFill>
                <a:latin typeface="Arial" panose="020B0604020202020204" pitchFamily="34" charset="0"/>
                <a:cs typeface="Arial" panose="020B0604020202020204" pitchFamily="34" charset="0"/>
              </a:rPr>
              <a:t>Ideas: poor and young people are disorderly</a:t>
            </a:r>
            <a:endParaRPr lang="en-US" sz="24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215703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latin typeface="Arial" panose="020B0604020202020204" pitchFamily="34" charset="0"/>
                <a:cs typeface="Arial" panose="020B0604020202020204" pitchFamily="34" charset="0"/>
              </a:rPr>
              <a:t>1970s-1990s</a:t>
            </a:r>
          </a:p>
        </p:txBody>
      </p:sp>
      <p:sp>
        <p:nvSpPr>
          <p:cNvPr id="3" name="Content Placeholder 2"/>
          <p:cNvSpPr>
            <a:spLocks noGrp="1"/>
          </p:cNvSpPr>
          <p:nvPr>
            <p:ph idx="1"/>
          </p:nvPr>
        </p:nvSpPr>
        <p:spPr/>
        <p:txBody>
          <a:bodyPr>
            <a:noAutofit/>
          </a:bodyPr>
          <a:lstStyle/>
          <a:p>
            <a:r>
              <a:rPr lang="en-CA" sz="2000" b="1" u="sng" dirty="0">
                <a:solidFill>
                  <a:schemeClr val="tx1"/>
                </a:solidFill>
                <a:latin typeface="Arial" panose="020B0604020202020204" pitchFamily="34" charset="0"/>
                <a:cs typeface="Arial" panose="020B0604020202020204" pitchFamily="34" charset="0"/>
              </a:rPr>
              <a:t>1970s: Liberalism</a:t>
            </a:r>
          </a:p>
          <a:p>
            <a:r>
              <a:rPr lang="en-CA" sz="2000" b="1" dirty="0">
                <a:solidFill>
                  <a:schemeClr val="tx1"/>
                </a:solidFill>
                <a:latin typeface="Arial" panose="020B0604020202020204" pitchFamily="34" charset="0"/>
                <a:cs typeface="Arial" panose="020B0604020202020204" pitchFamily="34" charset="0"/>
              </a:rPr>
              <a:t>Police force: politically highly valued</a:t>
            </a:r>
          </a:p>
          <a:p>
            <a:r>
              <a:rPr lang="en-CA" sz="2000" b="1" dirty="0">
                <a:solidFill>
                  <a:schemeClr val="tx1"/>
                </a:solidFill>
                <a:latin typeface="Arial" panose="020B0604020202020204" pitchFamily="34" charset="0"/>
                <a:cs typeface="Arial" panose="020B0604020202020204" pitchFamily="34" charset="0"/>
              </a:rPr>
              <a:t>High state expenditure: man power and salaries</a:t>
            </a:r>
          </a:p>
          <a:p>
            <a:r>
              <a:rPr lang="en-CA" sz="2000" b="1" dirty="0">
                <a:solidFill>
                  <a:schemeClr val="tx1"/>
                </a:solidFill>
                <a:latin typeface="Arial" panose="020B0604020202020204" pitchFamily="34" charset="0"/>
                <a:cs typeface="Arial" panose="020B0604020202020204" pitchFamily="34" charset="0"/>
              </a:rPr>
              <a:t>Tasks and mandates are more and more diversified</a:t>
            </a:r>
          </a:p>
          <a:p>
            <a:r>
              <a:rPr lang="en-CA" sz="2000" b="1" u="sng" dirty="0">
                <a:solidFill>
                  <a:schemeClr val="tx1"/>
                </a:solidFill>
                <a:latin typeface="Arial" panose="020B0604020202020204" pitchFamily="34" charset="0"/>
                <a:cs typeface="Arial" panose="020B0604020202020204" pitchFamily="34" charset="0"/>
              </a:rPr>
              <a:t>1980s and 1990s: Neo-Liberalism</a:t>
            </a:r>
          </a:p>
          <a:p>
            <a:r>
              <a:rPr lang="en-CA" sz="2000" b="1" u="sng" dirty="0">
                <a:solidFill>
                  <a:schemeClr val="tx1"/>
                </a:solidFill>
                <a:latin typeface="Arial" panose="020B0604020202020204" pitchFamily="34" charset="0"/>
                <a:cs typeface="Arial" panose="020B0604020202020204" pitchFamily="34" charset="0"/>
              </a:rPr>
              <a:t>2 phases: </a:t>
            </a:r>
          </a:p>
          <a:p>
            <a:r>
              <a:rPr lang="en-CA" sz="2000" b="1" u="sng" dirty="0">
                <a:solidFill>
                  <a:schemeClr val="tx1"/>
                </a:solidFill>
                <a:latin typeface="Arial" panose="020B0604020202020204" pitchFamily="34" charset="0"/>
                <a:cs typeface="Arial" panose="020B0604020202020204" pitchFamily="34" charset="0"/>
              </a:rPr>
              <a:t>roll back welfare state and expand police and military apparatus</a:t>
            </a:r>
          </a:p>
          <a:p>
            <a:r>
              <a:rPr lang="en-CA" sz="2000" b="1" u="sng" dirty="0">
                <a:solidFill>
                  <a:schemeClr val="tx1"/>
                </a:solidFill>
                <a:latin typeface="Arial" panose="020B0604020202020204" pitchFamily="34" charset="0"/>
                <a:cs typeface="Arial" panose="020B0604020202020204" pitchFamily="34" charset="0"/>
              </a:rPr>
              <a:t>Roll back welfare state and roll out police apparatus</a:t>
            </a:r>
          </a:p>
          <a:p>
            <a:r>
              <a:rPr lang="en-CA" sz="2000" b="1" u="sng" dirty="0">
                <a:solidFill>
                  <a:schemeClr val="tx1"/>
                </a:solidFill>
                <a:latin typeface="Arial" panose="020B0604020202020204" pitchFamily="34" charset="0"/>
                <a:cs typeface="Arial" panose="020B0604020202020204" pitchFamily="34" charset="0"/>
              </a:rPr>
              <a:t>Mixed privatized and state policing  </a:t>
            </a:r>
            <a:endParaRPr lang="en-US" sz="2000" b="1" u="sng"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002614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CA" b="1" dirty="0">
                <a:solidFill>
                  <a:schemeClr val="tx1"/>
                </a:solidFill>
                <a:latin typeface="Arial" panose="020B0604020202020204" pitchFamily="34" charset="0"/>
                <a:cs typeface="Arial" panose="020B0604020202020204" pitchFamily="34" charset="0"/>
              </a:rPr>
              <a:t>21 century </a:t>
            </a:r>
            <a:endParaRPr lang="en-US" dirty="0"/>
          </a:p>
        </p:txBody>
      </p:sp>
      <p:sp>
        <p:nvSpPr>
          <p:cNvPr id="3" name="Content Placeholder 2"/>
          <p:cNvSpPr>
            <a:spLocks noGrp="1"/>
          </p:cNvSpPr>
          <p:nvPr>
            <p:ph idx="1"/>
          </p:nvPr>
        </p:nvSpPr>
        <p:spPr/>
        <p:txBody>
          <a:bodyPr>
            <a:normAutofit/>
          </a:bodyPr>
          <a:lstStyle/>
          <a:p>
            <a:r>
              <a:rPr lang="en-CA" sz="2400" b="1" u="sng" dirty="0">
                <a:solidFill>
                  <a:schemeClr val="tx1"/>
                </a:solidFill>
                <a:latin typeface="Arial" panose="020B0604020202020204" pitchFamily="34" charset="0"/>
                <a:cs typeface="Arial" panose="020B0604020202020204" pitchFamily="34" charset="0"/>
              </a:rPr>
              <a:t>21 century </a:t>
            </a:r>
          </a:p>
          <a:p>
            <a:r>
              <a:rPr lang="en-CA" sz="2400" b="1" dirty="0">
                <a:solidFill>
                  <a:schemeClr val="tx1"/>
                </a:solidFill>
                <a:latin typeface="Arial" panose="020B0604020202020204" pitchFamily="34" charset="0"/>
                <a:cs typeface="Arial" panose="020B0604020202020204" pitchFamily="34" charset="0"/>
              </a:rPr>
              <a:t>Increase of state spending for privatized and state policing</a:t>
            </a:r>
          </a:p>
          <a:p>
            <a:r>
              <a:rPr lang="en-CA" sz="2400" b="1" dirty="0">
                <a:solidFill>
                  <a:schemeClr val="tx1"/>
                </a:solidFill>
                <a:latin typeface="Arial" panose="020B0604020202020204" pitchFamily="34" charset="0"/>
                <a:cs typeface="Arial" panose="020B0604020202020204" pitchFamily="34" charset="0"/>
              </a:rPr>
              <a:t>Emphasis on specific mandates.</a:t>
            </a:r>
          </a:p>
          <a:p>
            <a:r>
              <a:rPr lang="en-CA" sz="2400" b="1" dirty="0">
                <a:solidFill>
                  <a:schemeClr val="tx1"/>
                </a:solidFill>
                <a:latin typeface="Arial" panose="020B0604020202020204" pitchFamily="34" charset="0"/>
                <a:cs typeface="Arial" panose="020B0604020202020204" pitchFamily="34" charset="0"/>
              </a:rPr>
              <a:t>E.g. 2001: 7.7 billion to CSIS and RCMP knowledge production about possible terrorist cells and prevention of terror attacks </a:t>
            </a:r>
            <a:endParaRPr lang="en-US" sz="24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2205804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latin typeface="Arial" panose="020B0604020202020204" pitchFamily="34" charset="0"/>
                <a:cs typeface="Arial" panose="020B0604020202020204" pitchFamily="34" charset="0"/>
              </a:rPr>
              <a:t>21 century</a:t>
            </a:r>
          </a:p>
        </p:txBody>
      </p:sp>
      <p:sp>
        <p:nvSpPr>
          <p:cNvPr id="3" name="Content Placeholder 2"/>
          <p:cNvSpPr>
            <a:spLocks noGrp="1"/>
          </p:cNvSpPr>
          <p:nvPr>
            <p:ph idx="1"/>
          </p:nvPr>
        </p:nvSpPr>
        <p:spPr/>
        <p:txBody>
          <a:bodyPr/>
          <a:lstStyle/>
          <a:p>
            <a:r>
              <a:rPr lang="en-CA" sz="2400" b="1" dirty="0">
                <a:solidFill>
                  <a:schemeClr val="tx1"/>
                </a:solidFill>
                <a:latin typeface="Arial" panose="020B0604020202020204" pitchFamily="34" charset="0"/>
                <a:cs typeface="Arial" panose="020B0604020202020204" pitchFamily="34" charset="0"/>
              </a:rPr>
              <a:t>Mandates and tasks include increasingly </a:t>
            </a:r>
          </a:p>
          <a:p>
            <a:r>
              <a:rPr lang="en-CA" sz="2400" b="1" dirty="0">
                <a:solidFill>
                  <a:schemeClr val="tx1"/>
                </a:solidFill>
                <a:latin typeface="Arial" panose="020B0604020202020204" pitchFamily="34" charset="0"/>
                <a:cs typeface="Arial" panose="020B0604020202020204" pitchFamily="34" charset="0"/>
              </a:rPr>
              <a:t>Prevention, pre-emption </a:t>
            </a:r>
          </a:p>
          <a:p>
            <a:r>
              <a:rPr lang="en-CA" sz="2400" b="1" dirty="0">
                <a:solidFill>
                  <a:schemeClr val="tx1"/>
                </a:solidFill>
                <a:latin typeface="Arial" panose="020B0604020202020204" pitchFamily="34" charset="0"/>
                <a:cs typeface="Arial" panose="020B0604020202020204" pitchFamily="34" charset="0"/>
              </a:rPr>
              <a:t>Surveillance strategies</a:t>
            </a:r>
          </a:p>
          <a:p>
            <a:r>
              <a:rPr lang="en-CA" sz="2400" b="1" dirty="0">
                <a:solidFill>
                  <a:schemeClr val="tx1"/>
                </a:solidFill>
                <a:latin typeface="Arial" panose="020B0604020202020204" pitchFamily="34" charset="0"/>
                <a:cs typeface="Arial" panose="020B0604020202020204" pitchFamily="34" charset="0"/>
              </a:rPr>
              <a:t>Knowledge production </a:t>
            </a:r>
          </a:p>
          <a:p>
            <a:r>
              <a:rPr lang="en-CA" sz="2400" b="1" dirty="0">
                <a:solidFill>
                  <a:schemeClr val="tx1"/>
                </a:solidFill>
                <a:latin typeface="Arial" panose="020B0604020202020204" pitchFamily="34" charset="0"/>
                <a:cs typeface="Arial" panose="020B0604020202020204" pitchFamily="34" charset="0"/>
              </a:rPr>
              <a:t>Data collection </a:t>
            </a:r>
            <a:endParaRPr lang="en-US" sz="24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689186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TC103457452[[fn=Celestial]]</Template>
  <TotalTime>944</TotalTime>
  <Words>2831</Words>
  <Application>Microsoft Office PowerPoint</Application>
  <PresentationFormat>Widescreen</PresentationFormat>
  <Paragraphs>327</Paragraphs>
  <Slides>58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58</vt:i4>
      </vt:variant>
    </vt:vector>
  </HeadingPairs>
  <TitlesOfParts>
    <vt:vector size="62" baseType="lpstr">
      <vt:lpstr>Arial</vt:lpstr>
      <vt:lpstr>Calibri</vt:lpstr>
      <vt:lpstr>Calibri Light</vt:lpstr>
      <vt:lpstr>Celestial</vt:lpstr>
      <vt:lpstr>Welcome!</vt:lpstr>
      <vt:lpstr>Introduction</vt:lpstr>
      <vt:lpstr>Questions</vt:lpstr>
      <vt:lpstr>Police Responsibilities</vt:lpstr>
      <vt:lpstr>Police Challenges </vt:lpstr>
      <vt:lpstr>Police challenges</vt:lpstr>
      <vt:lpstr>Policing</vt:lpstr>
      <vt:lpstr>Examples: Who is policing? </vt:lpstr>
      <vt:lpstr>‘The Police’ as a State Apparatus</vt:lpstr>
      <vt:lpstr>‘The Police’ </vt:lpstr>
      <vt:lpstr>Policing before ‘the Police’</vt:lpstr>
      <vt:lpstr>Policing before ‘the Police’ </vt:lpstr>
      <vt:lpstr>PowerPoint Presentation</vt:lpstr>
      <vt:lpstr>Community Policing</vt:lpstr>
      <vt:lpstr>Community Policing </vt:lpstr>
      <vt:lpstr>Historical Background</vt:lpstr>
      <vt:lpstr>British System: The emergence of the constable (14/15th century) </vt:lpstr>
      <vt:lpstr>16th Century: Stipendiary Police </vt:lpstr>
      <vt:lpstr>Critique of the Hybrid System </vt:lpstr>
      <vt:lpstr>‘The Police’ as a Profession</vt:lpstr>
      <vt:lpstr>“The Police” Apparatus as an Institution of the State</vt:lpstr>
      <vt:lpstr>Robert Peel (1788-1850)</vt:lpstr>
      <vt:lpstr>Robert Peel </vt:lpstr>
      <vt:lpstr>9 Principles of the Police Act</vt:lpstr>
      <vt:lpstr>9 Principles</vt:lpstr>
      <vt:lpstr>9 Principles</vt:lpstr>
      <vt:lpstr>PowerPoint Presentation</vt:lpstr>
      <vt:lpstr>The Canadian Police Apparatus ( 17th-18th century)  </vt:lpstr>
      <vt:lpstr>Canadian Constable 1880s</vt:lpstr>
      <vt:lpstr>North West Mounted Police 1900</vt:lpstr>
      <vt:lpstr>The Canadian Police Apparatus</vt:lpstr>
      <vt:lpstr>The Canadian Police Apparatus (18 and 19th century)</vt:lpstr>
      <vt:lpstr>Canada Historical Overview </vt:lpstr>
      <vt:lpstr>Canada: White Settler Colonial State</vt:lpstr>
      <vt:lpstr>White settler cultural domination</vt:lpstr>
      <vt:lpstr>Policing of Indigenous Populations </vt:lpstr>
      <vt:lpstr>British and French Colonialism </vt:lpstr>
      <vt:lpstr>Treaties (Royal Commission on Aboriginal Peoples 1996)  </vt:lpstr>
      <vt:lpstr>Indian Act of Canada (1876)</vt:lpstr>
      <vt:lpstr>Laws</vt:lpstr>
      <vt:lpstr>Criminal Code of Canada</vt:lpstr>
      <vt:lpstr>The Role of Police in Residential Schools  </vt:lpstr>
      <vt:lpstr>The Canadian Police Apparatus (20 and  21th century)</vt:lpstr>
      <vt:lpstr>Canadian Police levels</vt:lpstr>
      <vt:lpstr>First Nations Police</vt:lpstr>
      <vt:lpstr>First Nation Police</vt:lpstr>
      <vt:lpstr>Federal level</vt:lpstr>
      <vt:lpstr>Canadian security and Intelligence Service (CSIS)  </vt:lpstr>
      <vt:lpstr>Canadian Royal Mounted Police (RCMP)</vt:lpstr>
      <vt:lpstr>Canada Border Services Agency (CBSA)</vt:lpstr>
      <vt:lpstr>Provincial or Regional Police </vt:lpstr>
      <vt:lpstr>Municipal Police </vt:lpstr>
      <vt:lpstr>Overall Goals of ‘The Police’</vt:lpstr>
      <vt:lpstr>PowerPoint Presentation</vt:lpstr>
      <vt:lpstr>1950s and 1960s </vt:lpstr>
      <vt:lpstr>1970s-1990s</vt:lpstr>
      <vt:lpstr>21 century </vt:lpstr>
      <vt:lpstr>21 century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dc:title>
  <dc:creator>Anke Allspach</dc:creator>
  <cp:lastModifiedBy>Anke Allspach</cp:lastModifiedBy>
  <cp:revision>154</cp:revision>
  <dcterms:created xsi:type="dcterms:W3CDTF">2013-09-07T13:27:57Z</dcterms:created>
  <dcterms:modified xsi:type="dcterms:W3CDTF">2024-01-08T18:37:16Z</dcterms:modified>
</cp:coreProperties>
</file>